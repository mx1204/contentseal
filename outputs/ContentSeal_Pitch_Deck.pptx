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d272f3bbc4f73" /><Relationship Type="http://schemas.openxmlformats.org/officeDocument/2006/relationships/extended-properties" Target="/docProps/app.xml" Id="R13e786e602524eab" /><Relationship Type="http://schemas.openxmlformats.org/officeDocument/2006/relationships/officeDocument" Target="/ppt/presentation.xml" Id="R8519699a6231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753946e2447f0"/>
  </p:sldMasterIdLst>
  <p:notesMasterIdLst>
    <p:notesMasterId xmlns:r="http://schemas.openxmlformats.org/officeDocument/2006/relationships" r:id="Rd74b525492dc4475"/>
  </p:notesMasterIdLst>
  <p:sldIdLst>
    <p:sldId xmlns:r="http://schemas.openxmlformats.org/officeDocument/2006/relationships" id="256" r:id="R1dcd419d7d844e40"/>
    <p:sldId xmlns:r="http://schemas.openxmlformats.org/officeDocument/2006/relationships" id="257" r:id="Rbeb17aa1897f4671"/>
    <p:sldId xmlns:r="http://schemas.openxmlformats.org/officeDocument/2006/relationships" id="258" r:id="R406c6b754ef2422c"/>
    <p:sldId xmlns:r="http://schemas.openxmlformats.org/officeDocument/2006/relationships" id="259" r:id="R72625e056e0c4f80"/>
    <p:sldId xmlns:r="http://schemas.openxmlformats.org/officeDocument/2006/relationships" id="260" r:id="R26aea65914dc46f4"/>
    <p:sldId xmlns:r="http://schemas.openxmlformats.org/officeDocument/2006/relationships" id="261" r:id="Rf847e43df1d9421f"/>
    <p:sldId xmlns:r="http://schemas.openxmlformats.org/officeDocument/2006/relationships" id="262" r:id="R158102f380394dc2"/>
    <p:sldId xmlns:r="http://schemas.openxmlformats.org/officeDocument/2006/relationships" id="263" r:id="Rfaaed8edcc604998"/>
    <p:sldId xmlns:r="http://schemas.openxmlformats.org/officeDocument/2006/relationships" id="264" r:id="R5fab2be4ed8f47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27362ba8840ba" /><Relationship Type="http://schemas.openxmlformats.org/officeDocument/2006/relationships/slideMaster" Target="/ppt/slideMasters/slideMaster1.xml" Id="R954753946e2447f0" /><Relationship Type="http://schemas.openxmlformats.org/officeDocument/2006/relationships/notesMaster" Target="/ppt/notesMasters/notesMaster1.xml" Id="Rd74b525492dc4475" /><Relationship Type="http://schemas.openxmlformats.org/officeDocument/2006/relationships/presProps" Target="/ppt/presProps.xml" Id="Rb46373014b1c4ef1" /><Relationship Type="http://schemas.openxmlformats.org/officeDocument/2006/relationships/tableStyles" Target="/ppt/tableStyles.xml" Id="Rb9aba96fac964cb9" /><Relationship Type="http://schemas.openxmlformats.org/officeDocument/2006/relationships/slide" Target="/ppt/slides/slide1.xml" Id="R1dcd419d7d844e40" /><Relationship Type="http://schemas.openxmlformats.org/officeDocument/2006/relationships/slide" Target="/ppt/slides/slide2.xml" Id="Rbeb17aa1897f4671" /><Relationship Type="http://schemas.openxmlformats.org/officeDocument/2006/relationships/slide" Target="/ppt/slides/slide3.xml" Id="R406c6b754ef2422c" /><Relationship Type="http://schemas.openxmlformats.org/officeDocument/2006/relationships/slide" Target="/ppt/slides/slide4.xml" Id="R72625e056e0c4f80" /><Relationship Type="http://schemas.openxmlformats.org/officeDocument/2006/relationships/slide" Target="/ppt/slides/slide5.xml" Id="R26aea65914dc46f4" /><Relationship Type="http://schemas.openxmlformats.org/officeDocument/2006/relationships/slide" Target="/ppt/slides/slide6.xml" Id="Rf847e43df1d9421f" /><Relationship Type="http://schemas.openxmlformats.org/officeDocument/2006/relationships/slide" Target="/ppt/slides/slide7.xml" Id="R158102f380394dc2" /><Relationship Type="http://schemas.openxmlformats.org/officeDocument/2006/relationships/slide" Target="/ppt/slides/slide8.xml" Id="Rfaaed8edcc604998" /><Relationship Type="http://schemas.openxmlformats.org/officeDocument/2006/relationships/slide" Target="/ppt/slides/slide9.xml" Id="R5fab2be4ed8f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35e8d5fc16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2a2c1d1244b43" /><Relationship Type="http://schemas.openxmlformats.org/officeDocument/2006/relationships/notesMaster" Target="/ppt/notesMasters/notesMaster1.xml" Id="Rf1a8e9155bb5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9a305f968497e" /><Relationship Type="http://schemas.openxmlformats.org/officeDocument/2006/relationships/notesMaster" Target="/ppt/notesMasters/notesMaster1.xml" Id="R09d2fa2b1a5c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b4493b4d1c414b" /><Relationship Type="http://schemas.openxmlformats.org/officeDocument/2006/relationships/notesMaster" Target="/ppt/notesMasters/notesMaster1.xml" Id="Rc9a8f9ebec814b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b3ac76908d4b47" /><Relationship Type="http://schemas.openxmlformats.org/officeDocument/2006/relationships/notesMaster" Target="/ppt/notesMasters/notesMaster1.xml" Id="R992dc9aff733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de2985b5274239" /><Relationship Type="http://schemas.openxmlformats.org/officeDocument/2006/relationships/notesMaster" Target="/ppt/notesMasters/notesMaster1.xml" Id="Rbcdb606c652743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339d35768e4712" /><Relationship Type="http://schemas.openxmlformats.org/officeDocument/2006/relationships/notesMaster" Target="/ppt/notesMasters/notesMaster1.xml" Id="R72be2644beb8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21b3bf7d84c9b" /><Relationship Type="http://schemas.openxmlformats.org/officeDocument/2006/relationships/notesMaster" Target="/ppt/notesMasters/notesMaster1.xml" Id="R1159dfd18ac2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5b387c04f34e20" /><Relationship Type="http://schemas.openxmlformats.org/officeDocument/2006/relationships/notesMaster" Target="/ppt/notesMasters/notesMaster1.xml" Id="R15764894f9b443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9a90da909a4e8c" /><Relationship Type="http://schemas.openxmlformats.org/officeDocument/2006/relationships/notesMaster" Target="/ppt/notesMasters/notesMaster1.xml" Id="Ra5a011be0b7843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50f1ad24f4f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8e7e3e4874b46" /><Relationship Type="http://schemas.openxmlformats.org/officeDocument/2006/relationships/slideLayout" Target="/ppt/slideLayouts/slideLayout1.xml" Id="R060be5b8ee5e4d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be5b8ee5e4d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5212b587f4012" /><Relationship Type="http://schemas.openxmlformats.org/officeDocument/2006/relationships/image" Target="/ppt/media/image.png" Id="R898a3e54ad354c17" /><Relationship Type="http://schemas.openxmlformats.org/officeDocument/2006/relationships/notesSlide" Target="/ppt/notesSlides/notesSlide1.xml" Id="R0040ee04417f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eb3deedfa4499" /><Relationship Type="http://schemas.openxmlformats.org/officeDocument/2006/relationships/notesSlide" Target="/ppt/notesSlides/notesSlide2.xml" Id="R1bf6362b4104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befed0bb64815" /><Relationship Type="http://schemas.openxmlformats.org/officeDocument/2006/relationships/notesSlide" Target="/ppt/notesSlides/notesSlide3.xml" Id="R115dedf7f5a4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d65eaa43b4403" /><Relationship Type="http://schemas.openxmlformats.org/officeDocument/2006/relationships/notesSlide" Target="/ppt/notesSlides/notesSlide4.xml" Id="R7569014caada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43fa49fe84894" /><Relationship Type="http://schemas.openxmlformats.org/officeDocument/2006/relationships/notesSlide" Target="/ppt/notesSlides/notesSlide5.xml" Id="R4b5d88d14e8c44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30c8efcef47de" /><Relationship Type="http://schemas.openxmlformats.org/officeDocument/2006/relationships/image" Target="/ppt/media/image2.png" Id="R58820edb7b6e422d" /><Relationship Type="http://schemas.openxmlformats.org/officeDocument/2006/relationships/image" Target="/ppt/media/image3.png" Id="R403e59b75d1e42e2" /><Relationship Type="http://schemas.openxmlformats.org/officeDocument/2006/relationships/notesSlide" Target="/ppt/notesSlides/notesSlide6.xml" Id="R20a94a3c5b99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cd2f0aaa45c2" /><Relationship Type="http://schemas.openxmlformats.org/officeDocument/2006/relationships/notesSlide" Target="/ppt/notesSlides/notesSlide7.xml" Id="R2124c60e7036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f5c2d27304288" /><Relationship Type="http://schemas.openxmlformats.org/officeDocument/2006/relationships/notesSlide" Target="/ppt/notesSlides/notesSlide8.xml" Id="R5452848f59314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e4866eeb647d6" /><Relationship Type="http://schemas.openxmlformats.org/officeDocument/2006/relationships/notesSlide" Target="/ppt/notesSlides/notesSlide9.xml" Id="Rbd555a2fb8744b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BF748-EE44-487C-81CF-CE60ED79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6CFE1-9BF2-4CD1-9762-744AA0B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4F629-F06C-4D34-A2D6-287DE75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5093-2DDF-4F06-BF3D-02535EE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719AD-4937-408B-9C94-7011ECE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791B0-A844-464E-A2A1-1CBC39C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E6B8D-95CB-467F-92F6-47CDB42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FC6F3-7346-48EA-BB0D-C3CEAD3F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3569E-4262-4C1E-AA4D-C12C9F5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7A13C-41F7-4871-A3D5-D519CA7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C4306-ED51-4920-872F-AA6AD93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89898-D198-4247-9265-B325F0B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7E23-BF71-4E14-A33D-6D54BE4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2FA3C-24C5-4F95-BB51-AD3FE2F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B164C-FF8E-4E14-B747-6C2BEE19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370A7-FBC6-42F7-83D9-73C83CDF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CD807-BACF-4AC4-A89F-CBC0489D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FFF23-7331-471B-8431-3EC27788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0C38E-6F88-4A97-8C8E-FC51718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760EF-2189-46EF-9669-89AA5E83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5BAA0-48E0-426B-83F9-180B17B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F90EB-003F-4280-8A88-7919B9E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76900-E3BC-4148-9763-B881A6B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965D9-E9B0-4D09-9C99-90CE47A6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3589B-0848-4840-A6C2-3CFFD4F6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21E55-2F97-4358-9F97-3A3631C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3F60D-0299-4A42-B15B-9AC3B6C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5130B-9113-42E5-A0AB-FF438F4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151425-2027-4CE5-AEEE-FFFE814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EB40B-927E-409F-8AE2-EE9DA3A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Challenge Statement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0C673-06EE-49D6-935B-BD4165C2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36218D-75AE-434A-A6F4-94AD06E5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EE7D8">
              <a:alpha val="12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9D312-47E7-4CEC-A7DB-3338FB5F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975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E7D8"/>
                </a:solidFill>
              </a:defRPr>
            </a:pPr>
            <a:r>
              <a:rPr sz="900" b="1">
                <a:solidFill>
                  <a:srgbClr val="6EE7D8"/>
                </a:solidFill>
              </a:rPr>
              <a:t>A2: AUTHENTICITY IN A SYNTHETIC WORLD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DEC38-6B00-448B-A148-D20CE2C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EEF8F2"/>
                </a:solidFill>
              </a:defRPr>
            </a:pPr>
            <a:r>
              <a:rPr sz="4500" b="1">
                <a:solidFill>
                  <a:srgbClr val="EEF8F2"/>
                </a:solidFill>
              </a:rPr>
              <a:t>ContentSeal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77B282-13F8-4BBF-AA99-8E94C7F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3FF7A"/>
                </a:solidFill>
              </a:defRPr>
            </a:pPr>
            <a:r>
              <a:rPr sz="2325" b="0">
                <a:solidFill>
                  <a:srgbClr val="A3FF7A"/>
                </a:solidFill>
              </a:rPr>
              <a:t>Recover trusted sources after screenshots break provenance.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11047-5EBD-41E2-BDE3-1159FD80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335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261D">
              <a:alpha val="88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a3e54ad354c17"/>
          <a:stretch xmlns:a="http://schemas.openxmlformats.org/drawingml/2006/main"/>
        </p:blipFill>
        <p:spPr>
          <a:xfrm xmlns:a="http://schemas.openxmlformats.org/drawingml/2006/main">
            <a:off x="8058150" y="1619250"/>
            <a:ext cx="2571750" cy="1952625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32BB1-F436-4AD6-9BDD-7A9462B7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EF8F2"/>
                </a:solidFill>
              </a:defRPr>
            </a:pPr>
            <a:r>
              <a:rPr sz="1425" b="0">
                <a:solidFill>
                  <a:srgbClr val="EEF8F2"/>
                </a:solidFill>
              </a:rPr>
              <a:t>Recover the source after metadata is gone.</a:t>
            </a:r>
          </a:p>
        </p:txBody>
      </p:sp>
    </p:spTree>
    <p:extLst>
      <p:ext uri="{BB962C8B-B14F-4D97-AF65-F5344CB8AC3E}">
        <p14:creationId xmlns:p14="http://schemas.microsoft.com/office/powerpoint/2010/main" val="1701366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50FB4-981E-4B28-842E-45ECCFC8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28B5A-E6B2-4B89-B0E4-5976B07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10AAD-65B3-45CD-A983-03F1A3D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18F83-8D8F-4556-B9EB-A6EC9E5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35920-666F-475C-BA05-66950DC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73083-701F-414D-B387-2077EBF8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C6537-C80E-486B-86AB-02A20634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B1579-0BE4-4A3D-9630-D2AF5FE7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7486A-BC37-4023-9D30-23BD95FB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9BCAF-22A6-41BA-BBF2-D225BAD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2F792-2C57-46CC-956F-DA1AFCF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80108-1983-4116-BE3A-A6C5381F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BC80B-21F3-45E3-89A7-9391A0F8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7EE72-CC20-4450-BC59-757FC1B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2A459-0950-485B-8F30-2EF2E40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02705-EC11-4313-9254-A257FE1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AFBB1-431B-4248-A528-8ECD0D1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4E6D7-94D5-439F-A564-B50806B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56E5B-DCCB-4FFB-AD0F-A07310B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9D952-B01B-45E0-A1AD-9DA2771C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44705-7974-472D-B51B-FA666242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6D746-0822-4D25-AC75-CCCEC0A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2B3D7-7AA5-4761-BF1B-F27A3424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591F9-E121-45F6-911D-941C6CEF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4E331-1AE4-4088-8DF2-E22A6D19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D727E-270A-41B2-9339-A4B1604D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56C85-29B7-42BA-8A84-425A8C8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8D889-2780-4037-9D6E-0680C1A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FC813-FEB8-41AD-8094-35415C7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1C05D-F7DB-4032-98D0-2B38A81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Target User &amp; Use Case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0EA4F-1E69-4724-A2CF-5EB1B058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796E5E-1ED6-4A57-AC3C-6422D615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Who exactly is this for?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55F06-A13A-468C-B579-25430DD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A specific first ICP, not a broad audience.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64BEF0-DC04-4CB6-B5F0-D1E1289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A3FF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F0EBE-825A-4F4E-9417-B3A7B0F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FF7A"/>
                </a:solidFill>
              </a:defRPr>
            </a:pPr>
            <a:r>
              <a:rPr sz="1575" b="1">
                <a:solidFill>
                  <a:srgbClr val="A3FF7A"/>
                </a:solidFill>
              </a:rPr>
              <a:t>First target user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899AC-A87E-4B4D-BEFB-3DE7D23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Student clubs, event teams, and small publishers who issue public posters or notices.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346F8-777B-428E-A891-49B8F7A1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A37742-EE8A-4779-82FF-0074721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D8"/>
                </a:solidFill>
              </a:defRPr>
            </a:pPr>
            <a:r>
              <a:rPr sz="1575" b="1">
                <a:solidFill>
                  <a:srgbClr val="6EE7D8"/>
                </a:solidFill>
              </a:rPr>
              <a:t>Use case moment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235D7-9B3A-4F84-AD85-D80CFBE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A viewer receives a screenshot or reposted image in chat or social media before resharing.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132BE3-212E-42E2-9385-9B64F3F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F0C8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2B055A-DDCF-44F6-874D-A6ACF9D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C86B"/>
                </a:solidFill>
              </a:defRPr>
            </a:pPr>
            <a:r>
              <a:rPr sz="1575" b="1">
                <a:solidFill>
                  <a:srgbClr val="F0C86B"/>
                </a:solidFill>
              </a:rPr>
              <a:t>Struggle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540ED0-21AA-48D8-8EF9-8B195338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90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They cannot tell whether the image points back to an accountable source.</a:t>
            </a:r>
          </a:p>
        </p:txBody>
      </p:sp>
    </p:spTree>
    <p:extLst>
      <p:ext uri="{BB962C8B-B14F-4D97-AF65-F5344CB8AC3E}">
        <p14:creationId xmlns:p14="http://schemas.microsoft.com/office/powerpoint/2010/main" val="192246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A07858-3D1F-44FE-AA8D-B3CDDFC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0CBFB-1500-4CC5-95E7-E836CDF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C1097-2AD5-430B-AD46-F5C5C86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84BD5-C9EF-48DA-85AC-DA78A687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54672-A4F0-45D0-9AE2-9BFD904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5632B-171A-43DC-91C2-8C62AF9A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CF9D7-5E14-4242-9131-EFE40793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E0CC6-33A7-4AB1-AD9A-D81DD3F8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8E6F2-019B-4932-AD5D-BC84972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97709-51EB-448F-89DC-56450992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FE479-48B9-43F0-9DD0-97F9FAA6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AD070-AFFF-446B-976E-792BEF50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2FD00-A853-4DAC-83F3-9460794F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68DBE-5E69-40B0-B35F-91BE2CB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58C90-7B2A-4CE2-AC62-CD14B9B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7A44B-793E-44B1-8E0E-F9EA71A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DC92B-A301-4942-897D-CCA3B160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0A5BD-F8D0-4388-8541-3BD593CC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9CBD0-925A-46F3-9305-AAE7E97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9E55B-3054-41A0-9EF7-C43EBEE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5A79A-1CEA-4780-AEFA-8DC1F1C8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9D6EF-5CFB-419F-B567-34E9081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01146-8C1B-4D7B-91C6-15F00481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41780-983A-4C68-B51D-7C55FCF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B75D8-27FC-4021-B702-4BD1B3F3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4DCA5-EF97-4515-AC9E-3ACBB28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B47FA-D1DE-4076-9431-3AB0C705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E331F-72F4-4D7C-AD53-49DB662D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C177D-E62A-4ED8-9AAD-13CEAABD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09AB2-E2E0-4307-8B9B-3461AA35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Pain Point &amp; Bottleneck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E810C-A4B5-4E47-893C-B8D722BB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3EF55-947D-4BF1-B298-B6C51AB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The pain is uncertainty. The bottleneck is lost context.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AAC8B-3DB0-407A-B71E-F6BC447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A screenshot can look official while source signals are missing.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6BA7B-877A-4B56-99A2-F03EFBC7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457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6B5F">
              <a:alpha val="10000"/>
            </a:srgbClr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43A40-F343-4EAF-A998-E572D39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29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5F"/>
                </a:solidFill>
              </a:defRPr>
            </a:pPr>
            <a:r>
              <a:rPr sz="1950" b="1">
                <a:solidFill>
                  <a:srgbClr val="FF6B5F"/>
                </a:solidFill>
              </a:rPr>
              <a:t>Pain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A2C23-BA63-4E56-9AAC-053F45A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Users see a screenshot but cannot tell who issued it, whether it changed, or if it is current.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F754E8-E710-4DBF-82E0-EB6D42F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457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0C86B">
              <a:alpha val="10000"/>
            </a:srgbClr>
          </a:solidFill>
          <a:ln xmlns:a="http://schemas.openxmlformats.org/drawingml/2006/main" w="9525">
            <a:solidFill>
              <a:srgbClr val="F0C8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57488D-8B2C-48B7-9DEF-2BF5D5B0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C86B"/>
                </a:solidFill>
              </a:defRPr>
            </a:pPr>
            <a:r>
              <a:rPr sz="1950" b="1">
                <a:solidFill>
                  <a:srgbClr val="F0C86B"/>
                </a:solidFill>
              </a:rPr>
              <a:t>Core bottleneck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4B1049-1038-405C-AA05-B93BB576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354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The original metadata and platform context disappear during screenshot, crop, compression, and reposting.</a:t>
            </a:r>
          </a:p>
        </p:txBody>
      </p:sp>
    </p:spTree>
    <p:extLst>
      <p:ext uri="{BB962C8B-B14F-4D97-AF65-F5344CB8AC3E}">
        <p14:creationId xmlns:p14="http://schemas.microsoft.com/office/powerpoint/2010/main" val="246694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97719-C139-4EA6-8CAC-BC88DEB7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30167-A30D-4077-884C-2E9EB30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7B2E0-55F4-480A-A878-43F1E7B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4C507-2970-4CE9-8890-2A309B1C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BFAB0-10FB-4B23-A437-A3C3A42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D31A5-EE43-4772-965D-16C056A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AC1B8-A262-4EC8-B03E-25A9607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F732D-D912-4487-9DDC-DF69112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4F924-3FEB-4F08-AFDF-7F9C919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A3ED6-DBD4-4CA5-82EC-C0A5C0D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3D488-5ECE-4BC0-BA7D-1C36FD89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B662B-F834-419B-8048-536DFCE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71C75-C651-4B89-A4E1-323C946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DA385-E652-44D6-8E1F-8D16DCA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C9963-D9BF-4F0A-B2AD-864E522A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04F63-7AB3-4858-A1B9-5C4F5972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446B0-F99E-40F0-AE52-C2DC4D7A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9380F-7CA9-4196-A12F-FCB45319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2CED8-B81D-48D4-9EEB-F15D6B6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2FB8B-8FD5-4811-A1C2-CEBC784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5D363-EA95-4164-8013-731AB50B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9ACBC-7EFA-4C1B-9EA2-5BBDCC7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B2BB6-4701-449F-90DF-A60A329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FE815-FB7B-44B8-8871-5C4B6DF4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96F6F-7D96-465B-BAD3-0B6E738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7D1CE-F2B1-4E4B-913F-95FB6B28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329DF-3132-46EE-BBE6-1E337BFB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28746-5877-49FF-AF2F-5E4F2D4E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21818-3180-41E9-A204-730CE5A6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A8A87-2896-42F0-8AD4-05110E1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Current Alternative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6890A-69C0-40E9-8DC6-D778B16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4BBA3-4396-4FAB-994A-D0BA3E3E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What users do today does not solve the bottleneck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B3F59-1713-434F-81D3-E871175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Current checks are manual, slow, and often impossible after metadata loss.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9C063-2C7F-4B6C-BFAD-742E717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BE1D9-D03B-4BE0-89D3-8B6A1A52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Reverse image search misses private or newly created event content.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2C6109-B872-4B70-9AC7-2C2563E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351B2-E224-44E0-BDDB-1E93BCF7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Asking the sender depends on trust in the same broken chain.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45798D-FC27-444F-A2D1-7ABD4273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7C0C4-1D11-40F2-B9D8-A6C4B1C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AI detectors may flag style, but not recover accountability.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56ADCC-0727-4AF3-AEA0-29020D9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2F3275-EDE3-4EF6-A514-1E0C27D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Metadata viewers fail when screenshots strip metadata.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A134DC-76A6-46CA-9D05-220AEBA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95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6B5F">
              <a:alpha val="9000"/>
            </a:srgbClr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816CDC-0169-45E3-ACED-D5D4181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5F"/>
                </a:solidFill>
              </a:defRPr>
            </a:pPr>
            <a:r>
              <a:rPr sz="1800" b="1">
                <a:solidFill>
                  <a:srgbClr val="FF6B5F"/>
                </a:solidFill>
              </a:rPr>
              <a:t>Net result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5B7041-198C-4E91-98C2-B7E8F4F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957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No accountable source recovered.</a:t>
            </a:r>
          </a:p>
        </p:txBody>
      </p:sp>
    </p:spTree>
    <p:extLst>
      <p:ext uri="{BB962C8B-B14F-4D97-AF65-F5344CB8AC3E}">
        <p14:creationId xmlns:p14="http://schemas.microsoft.com/office/powerpoint/2010/main" val="829879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045D4-73EE-404A-8FE2-D17EFD1B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94A16-6F98-4518-8FF9-73570F79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A296-F00A-4957-957C-B62E1A10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CE8DA-ECDA-48EC-94E0-D303504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AC7C0-D567-4906-80B6-C661EE87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0268D-86F8-4EF5-B565-985476B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58141-F2A4-48BC-AB54-017FD31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58B06-B52F-4790-A6CF-D88FF34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C7744-3969-4F63-894E-6E433A86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AF933-29C6-4AA9-9C86-C5EF1FE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F2761-168E-4EB0-907C-ADD42ACE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D9523-7D53-4941-881A-A71C2820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7C607-519E-4CF5-B7A8-8A0E7D85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7BAAF-9EB6-46E6-B4C9-B0084AF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B5E36-1EC3-47D1-8EA3-93C2CD7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DCAD0-B141-4883-93D6-97A10636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D3369-3909-4D37-AA97-BF3A1F68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2035F-6099-4F44-8615-1BD6E39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CEC4E-D458-4541-AD8B-D3F9B9B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BB36F-8AD2-4973-8BF9-7DDA2F8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1AE88-C089-4CCA-B682-A14C6B63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E0DEA-C748-4729-B313-265EF2A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12F1E-DB80-4FF6-A457-03435692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0BC04-43C5-4680-8959-6819FA1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424A9-E195-46C3-BAFD-BB92271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166A4-3293-4AAF-99E0-AA578F5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982E4-83E3-47C5-B692-C50FF08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6E94B-266E-4249-9938-A434A92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71060-F537-420A-8724-431E3061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7F994-39E8-4E17-BD08-8D23671C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Solution &amp; Value Proposition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01867-649E-4465-93F2-A4304AB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1C71E-01A9-402E-B886-6CE182F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Seal the source before it spreads. Recover it after context breaks.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B45A2-1FDD-4D16-A468-B2E641AD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One-line output: We help viewers recover accountable source evidence from damaged image copies.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E00F17-CB98-4E09-B24A-E8C76C5E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A3FF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44391-4430-4598-812F-9F54681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FF7A"/>
                </a:solidFill>
              </a:defRPr>
            </a:pPr>
            <a:r>
              <a:rPr sz="1575" b="1">
                <a:solidFill>
                  <a:srgbClr val="A3FF7A"/>
                </a:solidFill>
              </a:rPr>
              <a:t>What improves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A93A7B-F6B8-48B7-A49E-754C11F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Viewers can move from uncertainty to a recovered proof page or a clear unknown state.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5CAF8E-4BD9-4036-B3CC-AA9B684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20E7E7-71D6-45A1-A31A-0C1AC39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909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D8"/>
                </a:solidFill>
              </a:defRPr>
            </a:pPr>
            <a:r>
              <a:rPr sz="1575" b="1">
                <a:solidFill>
                  <a:srgbClr val="6EE7D8"/>
                </a:solidFill>
              </a:rPr>
              <a:t>Why it fits A2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E05DCF-2485-4B8A-A97D-722BD412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Trust is tied to source recovery, human accountability, and synthetic-media context.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3D6C8E-8E24-4515-80DA-5CDBAE7C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F0C8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0CADDF-8CDA-4FD4-A262-54F4CDF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C86B"/>
                </a:solidFill>
              </a:defRPr>
            </a:pPr>
            <a:r>
              <a:rPr sz="1575" b="1">
                <a:solidFill>
                  <a:srgbClr val="F0C86B"/>
                </a:solidFill>
              </a:rPr>
              <a:t>Why lightweight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D1B3C9-9CA6-4226-8799-86383EA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The receipt uses hashes, visual fingerprints, and public proof context, not heavy enterprise setup.</a:t>
            </a:r>
          </a:p>
        </p:txBody>
      </p:sp>
    </p:spTree>
    <p:extLst>
      <p:ext uri="{BB962C8B-B14F-4D97-AF65-F5344CB8AC3E}">
        <p14:creationId xmlns:p14="http://schemas.microsoft.com/office/powerpoint/2010/main" val="1059884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6B7E3C-E2AA-4A47-8779-EA851E81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50A33-9B91-433F-9F7B-E472A1F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5E193-81A4-45B4-B7F8-759BE9A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DD0D5-F414-48D0-BCE1-2421BEB5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A0490-526F-4106-82F5-5F3A51BC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9092-D1D4-4C8E-AED0-B624009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BE080-7918-4B2F-9FD9-A51C66F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E017-FB86-4ACF-9A1F-040B2AE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57A57-912C-4253-B041-0255BBB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AF506-CDC5-4271-A837-3456EF30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E718E-F027-44C6-BFB3-14B00066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5D93F-2F72-469A-B01E-43392B6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8964B-39B6-4D48-AB56-3D9F107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55E7B-EBA4-42C9-9DDC-A1DF224A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D8C92-6E0F-4E37-ABA7-9DCCEFF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6E7A0-11E1-4113-97B6-6044EE8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BD36C-D814-4461-9976-A380F283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86EF1-D65C-4D82-A2FA-A43BDD87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E62D6-0CD1-415A-ABFA-C2CF6E0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ECF20-F632-45E5-91B8-9E9F3105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9C3DC-859E-423B-9071-53835CF2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E18A4-5DD3-456C-9AA0-FEBFDB69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2D45C-677E-40F9-A3C2-C4E4F55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9DC4F-BAE5-4364-8E2A-AD6E66F7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52E0A1-822C-487F-946E-1BB5F729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1D29C-EFE5-41C3-9BBE-6B04D841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0354A-F4A6-47CB-B7D7-EC83941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4DF1F-DF36-4594-A6EC-1E502B6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C7294-5E2D-4819-AEB9-0AC01645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C62DC-BCA6-43C8-AE67-3680DB6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How It Works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10D06-1202-41B1-AB02-8C030166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5A7C1C-987B-4647-B7B5-54EA3A8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A product flow judges can follow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DE013-EE41-43F1-B75C-7DA111CC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The demo follows the exact source-recovery loop.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20edb7b6e422d"/>
          <a:srcRect xmlns:a="http://schemas.openxmlformats.org/drawingml/2006/main" l="0" t="213" r="0" b="2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105150"/>
            <a:ext cx="2238375" cy="1485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e59b75d1e42e2"/>
          <a:srcRect xmlns:a="http://schemas.openxmlformats.org/drawingml/2006/main" l="0" t="6284" r="0" b="6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3105150"/>
            <a:ext cx="2238375" cy="1485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CFADC1-97A8-47A0-B394-CDECBF1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223837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A3FF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41BCAF-5B7B-420A-962F-8A94E268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3FF7A"/>
                </a:solidFill>
              </a:defRPr>
            </a:pPr>
            <a:r>
              <a:rPr sz="1650" b="1">
                <a:solidFill>
                  <a:srgbClr val="A3FF7A"/>
                </a:solidFill>
              </a:rPr>
              <a:t>Open Proof Page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5D9C5F-7653-4DDB-A560-B8736CC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EF8F2"/>
                </a:solidFill>
              </a:defRPr>
            </a:pPr>
            <a:r>
              <a:rPr sz="1125" b="0">
                <a:solidFill>
                  <a:srgbClr val="EEF8F2"/>
                </a:solidFill>
              </a:rPr>
              <a:t>issuer • AI usage • source • expiry •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F1B2B6-4012-49D6-93BA-F43EF73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23837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0C86B">
              <a:alpha val="10000"/>
            </a:srgbClr>
          </a:solidFill>
          <a:ln xmlns:a="http://schemas.openxmlformats.org/drawingml/2006/main" w="9525">
            <a:solidFill>
              <a:srgbClr val="F0C8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87B65F-A4E9-403A-8796-07D1AEC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C86B"/>
                </a:solidFill>
              </a:defRPr>
            </a:pPr>
            <a:r>
              <a:rPr sz="1800" b="1">
                <a:solidFill>
                  <a:srgbClr val="F0C86B"/>
                </a:solidFill>
              </a:rPr>
              <a:t>Guardrails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C94734-2DD3-48C8-BCA0-FE0A91F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changed copy warning</a:t>
            </a:r>
          </a:p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unknown stays unknown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7F9D77-7604-4E0C-9DD9-858829C9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3FF7A"/>
                </a:solidFill>
              </a:defRPr>
            </a:pPr>
            <a:r>
              <a:rPr sz="1425" b="1">
                <a:solidFill>
                  <a:srgbClr val="A3FF7A"/>
                </a:solidFill>
              </a:rPr>
              <a:t>1. Seal original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3A9F4D-675F-4756-B6B9-1AD17E3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E7D8"/>
                </a:solidFill>
              </a:defRPr>
            </a:pPr>
            <a:r>
              <a:rPr sz="1425" b="1">
                <a:solidFill>
                  <a:srgbClr val="6EE7D8"/>
                </a:solidFill>
              </a:rPr>
              <a:t>2. Recover screenshot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A6CDA-7AB0-4E0C-80CD-3399915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3FF7A"/>
                </a:solidFill>
              </a:defRPr>
            </a:pPr>
            <a:r>
              <a:rPr sz="1425" b="1">
                <a:solidFill>
                  <a:srgbClr val="A3FF7A"/>
                </a:solidFill>
              </a:rPr>
              <a:t>3. Check proof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AF72AC-2256-412E-8650-55AE64E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C86B"/>
                </a:solidFill>
              </a:defRPr>
            </a:pPr>
            <a:r>
              <a:rPr sz="1425" b="1">
                <a:solidFill>
                  <a:srgbClr val="F0C86B"/>
                </a:solidFill>
              </a:rPr>
              <a:t>4. Warn limits</a:t>
            </a:r>
          </a:p>
        </p:txBody>
      </p:sp>
    </p:spTree>
    <p:extLst>
      <p:ext uri="{BB962C8B-B14F-4D97-AF65-F5344CB8AC3E}">
        <p14:creationId xmlns:p14="http://schemas.microsoft.com/office/powerpoint/2010/main" val="2082078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71C58-76D1-4C2E-A7FA-29A733DD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D34E2-F5D2-4654-B727-522D1873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A6304-5F45-4000-B283-E34517A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F2DF3-6C6B-40D6-BA20-957CAAC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C1D8B-074F-4B0A-9BC5-B70EB5A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C82D8-624C-4296-BCF1-4FAEECEB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43F19-CDE8-4902-B01E-BC73115E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F8E5B-1E4B-4C50-8A92-05974AA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12CED-CBF0-42DA-924A-6635B96D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4A9D-62FB-445B-AC3C-1431F21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799ED-493E-4194-AE75-4E0C0FA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7FE12-2BC6-41BB-A14B-195B5D7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6D18E-01B8-4DBB-B05F-D06A01AB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972B3-7146-40FE-8703-CFA6A822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30C88-9F95-4202-BFDA-AFE9401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BD9BF-ADEC-4D2B-90B7-D17AFCA7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19A47-EF59-4502-83A3-15909E05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EA167-A714-4150-B58A-CFD9ECF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2BCBC-126C-43B4-9AAB-C3D23B71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9F948-66BD-4B5F-AC97-CE9FABE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3E583-C183-4DC8-B1EE-D617504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36B3F-643B-4732-BC75-7D55F722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0865D-9762-414D-971B-D913DE8B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A91C6-3E35-48D7-96F3-B7D8E29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7CC8D-C0BD-4B4B-848A-03C08820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D7815-F70B-4910-A579-E5940EE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0DF33-CA50-4219-BB53-F97A8ABF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7C62F-1090-4D6C-B2DA-52B0334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14A0E6-FE32-43C5-80DC-4550CB14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812BE-704C-4C95-8256-597380E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AI Leverage &amp; Technical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12157-DB17-40BB-8A3B-A9F06A32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02A32-EE06-4EFA-9F96-4C047AE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AI Evidence Layer: explain trust without pretending certainty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B00EB9-D5DD-4F51-8746-B646D6A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Not a black-box fake verdict. It turns provenance signals into user-facing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AF94B-0AB0-4FE9-A116-80309622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7A08A-DE76-497B-90CF-FD319961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D8"/>
                </a:solidFill>
              </a:defRPr>
            </a:pPr>
            <a:r>
              <a:rPr sz="1575" b="1">
                <a:solidFill>
                  <a:srgbClr val="6EE7D8"/>
                </a:solidFill>
              </a:rPr>
              <a:t>Source recovery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CA91BB-8958-4F1D-9795-5F59F8B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Exact hash and pHash variants recover originals, screenshots, crops, and reposts.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F6029-4B18-4B61-9273-12B8DE73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A3FF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17D41-BAD5-4793-A590-04FF7B5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FF7A"/>
                </a:solidFill>
              </a:defRPr>
            </a:pPr>
            <a:r>
              <a:rPr sz="1575" b="1">
                <a:solidFill>
                  <a:srgbClr val="A3FF7A"/>
                </a:solidFill>
              </a:rPr>
              <a:t>Human accountability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5662E-20BA-459D-9797-FCFA3F2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The recovered proof page shows issuer, trust level, source URL, expiry, and status.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27770F-34BD-4E89-A33C-DFE0AA0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24275E-D101-4A89-8698-1F44E2B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D8"/>
                </a:solidFill>
              </a:defRPr>
            </a:pPr>
            <a:r>
              <a:rPr sz="1575" b="1">
                <a:solidFill>
                  <a:srgbClr val="6EE7D8"/>
                </a:solidFill>
              </a:rPr>
              <a:t>AI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240B1-451C-4BFE-838D-98C6BEDA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Declared AI usage plus optional C2PA, watermark, classifier, and OCR signals.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82D37F-0D56-4FE5-B76B-5E3F8C37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2247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F0C8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616B70-AAD6-4C09-B686-D31613B4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C86B"/>
                </a:solidFill>
              </a:defRPr>
            </a:pPr>
            <a:r>
              <a:rPr sz="1575" b="1">
                <a:solidFill>
                  <a:srgbClr val="F0C86B"/>
                </a:solidFill>
              </a:rPr>
              <a:t>Change risk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C4DB49-D190-4A8C-B7E1-8F57F69C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671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</a:defRPr>
            </a:pPr>
            <a:r>
              <a:rPr sz="1275" b="0">
                <a:solidFill>
                  <a:srgbClr val="EEF8F2"/>
                </a:solidFill>
              </a:rPr>
              <a:t>Separates verified original, screenshot recovery, changed copy, conflict, and unknown.</a:t>
            </a:r>
          </a:p>
        </p:txBody>
      </p:sp>
    </p:spTree>
    <p:extLst>
      <p:ext uri="{BB962C8B-B14F-4D97-AF65-F5344CB8AC3E}">
        <p14:creationId xmlns:p14="http://schemas.microsoft.com/office/powerpoint/2010/main" val="1988309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B874FD-0746-4917-BE4E-412291B4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ED48-D046-4D94-BFBB-DEFBBD7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E316B-3D53-44B9-88CA-D4FC8C5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A5EB3-F1C5-4795-B035-1034AC6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C0130-8F63-40E9-A89E-85D9BEE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19953-A3EE-48EE-B288-F396B9C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CD60E-FD60-487D-952D-B46916E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E7B7B-6A1C-41C2-85AE-3ECB2F7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8577A-FBBD-4716-B0BA-A98827C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24585-F4C4-4296-A672-C7E26716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BB66C-75C2-4EF8-8217-CDEC0917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77D62-0F83-4F2E-9234-716E2FE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E8772-BFB1-4009-B9F8-3601C70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8EB4A-083D-49A2-B07E-C298EC8D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DD4C4-4D15-4BE5-A221-6C56CA0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99D59-F5E5-4865-925B-CEEB20F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C7784-0B5D-4510-AFE1-00BBEEF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B1ECE-C068-4676-97FB-9861F59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433B2-57E5-42D4-A610-4F039299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87115-6B05-470F-A5FC-6353749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66D99-63DA-4654-A1B4-8AD141B8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6FF05-AA6F-42B1-B4FF-AD5410E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AC656-FB0B-4452-BF90-5280DA7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7C762-92F8-4945-94E4-2A006F7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0B12E-486C-48E9-A4C5-8A3B338C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DD098-21FE-4055-A2AF-FF8F5668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AD275-B382-4F35-A1ED-2363D91B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0024B-6A25-414B-92CB-8B0C201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088FC-2147-4637-BD89-B9E340D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9615EC-FCC4-41C6-9D6E-7948291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Traction &amp;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7DECF-E28B-40E5-8FBA-F6DED3BB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8488DA-B249-415A-820C-C56D177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8F2"/>
                </a:solidFill>
              </a:defRPr>
            </a:pPr>
            <a:r>
              <a:rPr sz="3300" b="1">
                <a:solidFill>
                  <a:srgbClr val="EEF8F2"/>
                </a:solidFill>
              </a:rPr>
              <a:t>Working prototype, tested against the key edge cases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BD55A-1C1D-478D-8334-B57CB8E7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8AF"/>
                </a:solidFill>
              </a:defRPr>
            </a:pPr>
            <a:r>
              <a:rPr sz="1650" b="0">
                <a:solidFill>
                  <a:srgbClr val="A6B8AF"/>
                </a:solidFill>
              </a:rPr>
              <a:t>We validated the product logic against exact, screenshot, edited, and unknown images.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7526D-3A65-416A-95F8-B11D7173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CC034-124C-44B8-9A52-CA243B7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Live Vercel demo with Firebase-backed persistence.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81BAF-F7FA-40E8-A5F5-6A84B7A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A8CDED-A8A7-4585-BAA2-76A0FCF0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Regression tests for real cropped screenshot recovery and changed-copy risk.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A6F1EA-DF32-4129-AA44-D69803A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9F850C-4995-453E-BE85-5331DB2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Demo fixtures cover original, screenshot/repost, edited copy, and unknown image.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9CA00B-B48E-4D2A-AC8E-D6C59E31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E72269-C84A-41B8-BEED-F1C367D4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2"/>
                </a:solidFill>
              </a:defRPr>
            </a:pPr>
            <a:r>
              <a:rPr sz="1650" b="0">
                <a:solidFill>
                  <a:srgbClr val="EEF8F2"/>
                </a:solidFill>
              </a:rPr>
              <a:t>Next validation: interviews with clubs, event teams, and small publishers.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CA3A1D-D640-468A-9AB1-A1F4EBB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1717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6EE7D8">
              <a:alpha val="1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614FDB-564A-4053-A760-A10C0AB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E7D8"/>
                </a:solidFill>
              </a:defRPr>
            </a:pPr>
            <a:r>
              <a:rPr sz="1650" b="1">
                <a:solidFill>
                  <a:srgbClr val="6EE7D8"/>
                </a:solidFill>
              </a:rPr>
              <a:t>Judge-ready checks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E8F6B6-A05E-4309-B8D9-87E5791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works in demo</a:t>
            </a:r>
          </a:p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clear user</a:t>
            </a:r>
          </a:p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clear bottleneck</a:t>
            </a:r>
          </a:p>
          <a:p xmlns:a="http://schemas.openxmlformats.org/drawingml/2006/main">
            <a:pPr algn="ctr">
              <a:defRPr sz="1200" b="0">
                <a:solidFill>
                  <a:srgbClr val="EEF8F2"/>
                </a:solidFill>
              </a:defRPr>
            </a:pPr>
            <a:r>
              <a:rPr sz="1200" b="0">
                <a:solidFill>
                  <a:srgbClr val="EEF8F2"/>
                </a:solidFill>
              </a:rPr>
              <a:t>clear value</a:t>
            </a:r>
          </a:p>
        </p:txBody>
      </p:sp>
    </p:spTree>
    <p:extLst>
      <p:ext uri="{BB962C8B-B14F-4D97-AF65-F5344CB8AC3E}">
        <p14:creationId xmlns:p14="http://schemas.microsoft.com/office/powerpoint/2010/main" val="1422639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CBDD8-FA8E-4451-87F4-058F2B3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E2750-A1B8-4C4F-9189-364CF71F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91D8C-E7AF-4046-8678-200A3D0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65727-F504-4458-9264-2FF71502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7C07A-060F-4B46-A2A1-7E53421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97673-9E60-4087-8F40-26DD511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73FD4-C0C0-457E-94AD-D2EB66B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CA194-3AD5-49C1-AC10-2BFA1DBA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FA7CA-E22D-4305-8AC6-DAA782E8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E34DD-6021-49BE-A5DB-0D608F1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2DE66-A2D2-4E1A-8571-B7902053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F71ED-A6F0-48E0-A53E-4D5C970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66F0D-F76E-4EAB-9D10-5A7A607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46562-0B3F-47F4-B41D-160FB373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91B94-BD71-48DA-A447-1EB1950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B785A-1F8A-451E-9CEF-D5048540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88178-EB09-4645-B072-F7073CC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19C93-DAA5-415F-8C63-36D1ACF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5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15459-14CC-47E0-BC39-7A0CE99E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2BF88-8570-42BB-8D2B-AFEBADE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F1096-6269-44A6-9D5A-5FBD3193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AE0DB-F8C0-4E06-B5B2-BC6DF68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9A721-1831-417D-BE3E-E218D02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8E2C5-2312-4091-911B-C5E2D65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E4EC4-1B56-42B5-A32A-5C9DD629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52C7C-AF85-4AF5-8E17-77C5E872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E5F80-94D9-408E-980E-588775F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407EB-F3D1-4AB5-8580-5832DFC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8">
              <a:alpha val="4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E0D66-05E8-4756-B701-8CB8EF38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F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029DCB-2F91-48F5-85A5-7119147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F8F2"/>
                </a:solidFill>
              </a:defRPr>
            </a:pPr>
            <a:r>
              <a:rPr sz="1125" b="1">
                <a:solidFill>
                  <a:srgbClr val="EEF8F2"/>
                </a:solidFill>
              </a:rPr>
              <a:t>Close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825440-637F-49BB-9498-8405603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6B8AF"/>
                </a:solidFill>
              </a:defRPr>
            </a:pPr>
            <a:r>
              <a:rPr sz="1050" b="1">
                <a:solidFill>
                  <a:srgbClr val="A6B8AF"/>
                </a:solidFill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13897-E403-4921-942D-8BF8C62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EE7D8">
              <a:alpha val="12000"/>
            </a:srgbClr>
          </a:solidFill>
          <a:ln xmlns:a="http://schemas.openxmlformats.org/drawingml/2006/main" w="9525">
            <a:solidFill>
              <a:srgbClr val="A3FF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AA52E-82E3-4301-AC27-7733E8C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572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FF7A"/>
                </a:solidFill>
              </a:defRPr>
            </a:pPr>
            <a:r>
              <a:rPr sz="900" b="1">
                <a:solidFill>
                  <a:srgbClr val="A3FF7A"/>
                </a:solidFill>
              </a:rPr>
              <a:t>LIVE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3626CA-3C7D-4ECE-90E6-0A65F067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EF8F2"/>
                </a:solidFill>
              </a:defRPr>
            </a:pPr>
            <a:r>
              <a:rPr sz="4200" b="1">
                <a:solidFill>
                  <a:srgbClr val="EEF8F2"/>
                </a:solidFill>
              </a:rPr>
              <a:t>ContentSeal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27FB5-B4E1-4BA0-A857-80D0869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3FF7A"/>
                </a:solidFill>
              </a:defRPr>
            </a:pPr>
            <a:r>
              <a:rPr sz="2175" b="0">
                <a:solidFill>
                  <a:srgbClr val="A3FF7A"/>
                </a:solidFill>
              </a:rPr>
              <a:t>We help viewers who receive screenshots recover accountable source evidence, so they can verify before resharing.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D78D4-1D4D-4B79-A653-E5BCDFC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61D">
              <a:alpha val="90000"/>
            </a:srgbClr>
          </a:solidFill>
          <a:ln xmlns:a="http://schemas.openxmlformats.org/drawingml/2006/main" w="9525">
            <a:solidFill>
              <a:srgbClr val="6EE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7D911-029A-450B-9A0E-7A2AF16F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EE7D8"/>
                </a:solidFill>
              </a:defRPr>
            </a:pPr>
            <a:r>
              <a:rPr sz="2400" b="1">
                <a:solidFill>
                  <a:srgbClr val="6EE7D8"/>
                </a:solidFill>
              </a:rPr>
              <a:t>Try 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6ADA09-F8ED-46FC-95DD-3EAA815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F8F2"/>
                </a:solidFill>
              </a:defRPr>
            </a:pPr>
            <a:r>
              <a:rPr sz="1725" b="1">
                <a:solidFill>
                  <a:srgbClr val="EEF8F2"/>
                </a:solidFill>
              </a:rPr>
              <a:t>contentseal.vercel.app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43D75-E489-4648-BA51-1B074C47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6B8AF"/>
                </a:solidFill>
              </a:defRPr>
            </a:pPr>
            <a:r>
              <a:rPr sz="1275" b="0">
                <a:solidFill>
                  <a:srgbClr val="A6B8AF"/>
                </a:solidFill>
              </a:rPr>
              <a:t>github.com/mx1204/ContentSeal</a:t>
            </a:r>
          </a:p>
        </p:txBody>
      </p:sp>
    </p:spTree>
    <p:extLst>
      <p:ext uri="{BB962C8B-B14F-4D97-AF65-F5344CB8AC3E}">
        <p14:creationId xmlns:p14="http://schemas.microsoft.com/office/powerpoint/2010/main" val="1218906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2026-06-24T22:14:31.1150000Z</dcterms:created>
  <dcterms:modified xsi:type="dcterms:W3CDTF">2026-06-24T22:14:31.1160000Z</dcterms:modified>
</coreProperties>
</file>