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9144000"/>
  <p:defaultTextStyle>
    <a:defPPr>
      <a:defRPr lang="en-US"/>
    </a:defPPr>
    <a:lvl1pPr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66" d="100"/>
          <a:sy n="66" d="100"/>
        </p:scale>
        <p:origin x="663" y="45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Master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80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矩形 36">
            <a:extLst>
              <a:ext uri="{FF2B5EF4-FFF2-40B4-BE49-F238E27FC236}">
                <a16:creationId xmlns:a16="http://schemas.microsoft.com/office/drawing/2014/main" id="{533BF748-EE44-487C-81CF-CE60ED790910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807"/>
          </a:solidFill>
          <a:ln w="0">
            <a:solidFill>
              <a:srgbClr val="05080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556CFE1-9BF2-4CD1-9762-744AA0B462C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FA4F629-F06C-4D34-A2D6-287DE75FDC25}"/>
              </a:ext>
            </a:extLst>
          </p:cNvPr>
          <p:cNvSpPr>
            <a:spLocks noGrp="1"/>
          </p:cNvSpPr>
          <p:nvPr/>
        </p:nvSpPr>
        <p:spPr>
          <a:xfrm>
            <a:off x="762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BF55093-2DDF-4F06-BF3D-02535EE28546}"/>
              </a:ext>
            </a:extLst>
          </p:cNvPr>
          <p:cNvSpPr>
            <a:spLocks noGrp="1"/>
          </p:cNvSpPr>
          <p:nvPr/>
        </p:nvSpPr>
        <p:spPr>
          <a:xfrm>
            <a:off x="1524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616719AD-4937-408B-9C94-7011ECE8AF5F}"/>
              </a:ext>
            </a:extLst>
          </p:cNvPr>
          <p:cNvSpPr>
            <a:spLocks noGrp="1"/>
          </p:cNvSpPr>
          <p:nvPr/>
        </p:nvSpPr>
        <p:spPr>
          <a:xfrm>
            <a:off x="2286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18791B0-A844-464E-A2A1-1CBC39C622C5}"/>
              </a:ext>
            </a:extLst>
          </p:cNvPr>
          <p:cNvSpPr>
            <a:spLocks noGrp="1"/>
          </p:cNvSpPr>
          <p:nvPr/>
        </p:nvSpPr>
        <p:spPr>
          <a:xfrm>
            <a:off x="3048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81E6B8D-95CB-467F-92F6-47CDB424CB15}"/>
              </a:ext>
            </a:extLst>
          </p:cNvPr>
          <p:cNvSpPr>
            <a:spLocks noGrp="1"/>
          </p:cNvSpPr>
          <p:nvPr/>
        </p:nvSpPr>
        <p:spPr>
          <a:xfrm>
            <a:off x="3810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70FC6F3-7346-48EA-BB0D-C3CEAD3FB324}"/>
              </a:ext>
            </a:extLst>
          </p:cNvPr>
          <p:cNvSpPr>
            <a:spLocks noGrp="1"/>
          </p:cNvSpPr>
          <p:nvPr/>
        </p:nvSpPr>
        <p:spPr>
          <a:xfrm>
            <a:off x="4572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7523569E-4262-4C1E-AA4D-C12C9F5EE58C}"/>
              </a:ext>
            </a:extLst>
          </p:cNvPr>
          <p:cNvSpPr>
            <a:spLocks noGrp="1"/>
          </p:cNvSpPr>
          <p:nvPr/>
        </p:nvSpPr>
        <p:spPr>
          <a:xfrm>
            <a:off x="5334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E607A13C-41F7-4871-A3D5-D519CA7F928D}"/>
              </a:ext>
            </a:extLst>
          </p:cNvPr>
          <p:cNvSpPr>
            <a:spLocks noGrp="1"/>
          </p:cNvSpPr>
          <p:nvPr/>
        </p:nvSpPr>
        <p:spPr>
          <a:xfrm>
            <a:off x="6096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DD4C4306-ED51-4920-872F-AA6AD9304B86}"/>
              </a:ext>
            </a:extLst>
          </p:cNvPr>
          <p:cNvSpPr>
            <a:spLocks noGrp="1"/>
          </p:cNvSpPr>
          <p:nvPr/>
        </p:nvSpPr>
        <p:spPr>
          <a:xfrm>
            <a:off x="6858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F9689898-D198-4247-9265-B325F0BBA965}"/>
              </a:ext>
            </a:extLst>
          </p:cNvPr>
          <p:cNvSpPr>
            <a:spLocks noGrp="1"/>
          </p:cNvSpPr>
          <p:nvPr/>
        </p:nvSpPr>
        <p:spPr>
          <a:xfrm>
            <a:off x="7620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9D27E23-BF71-4E14-A33D-6D54BE43B4F3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1AE2FA3C-24C5-4F95-BB51-AD3FE2F10B9D}"/>
              </a:ext>
            </a:extLst>
          </p:cNvPr>
          <p:cNvSpPr>
            <a:spLocks noGrp="1"/>
          </p:cNvSpPr>
          <p:nvPr/>
        </p:nvSpPr>
        <p:spPr>
          <a:xfrm>
            <a:off x="9144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80B164C-FF8E-4E14-B747-6C2BEE19F5EE}"/>
              </a:ext>
            </a:extLst>
          </p:cNvPr>
          <p:cNvSpPr>
            <a:spLocks noGrp="1"/>
          </p:cNvSpPr>
          <p:nvPr/>
        </p:nvSpPr>
        <p:spPr>
          <a:xfrm>
            <a:off x="9906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12370A7-FBC6-42F7-83D9-73C83CDF1958}"/>
              </a:ext>
            </a:extLst>
          </p:cNvPr>
          <p:cNvSpPr>
            <a:spLocks noGrp="1"/>
          </p:cNvSpPr>
          <p:nvPr/>
        </p:nvSpPr>
        <p:spPr>
          <a:xfrm>
            <a:off x="10668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DB8CD807-BACF-4AC4-A89F-CBC0489D88EC}"/>
              </a:ext>
            </a:extLst>
          </p:cNvPr>
          <p:cNvSpPr>
            <a:spLocks noGrp="1"/>
          </p:cNvSpPr>
          <p:nvPr/>
        </p:nvSpPr>
        <p:spPr>
          <a:xfrm>
            <a:off x="11430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97FFF23-7331-471B-8431-3EC277884D20}"/>
              </a:ext>
            </a:extLst>
          </p:cNvPr>
          <p:cNvSpPr>
            <a:spLocks noGrp="1"/>
          </p:cNvSpPr>
          <p:nvPr/>
        </p:nvSpPr>
        <p:spPr>
          <a:xfrm>
            <a:off x="12192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0220C38E-6F88-4A97-8C8E-FC517180324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36760EF-2189-46EF-9669-89AA5E838366}"/>
              </a:ext>
            </a:extLst>
          </p:cNvPr>
          <p:cNvSpPr>
            <a:spLocks noGrp="1"/>
          </p:cNvSpPr>
          <p:nvPr/>
        </p:nvSpPr>
        <p:spPr>
          <a:xfrm>
            <a:off x="0" y="762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5A5BAA0-48E0-426B-83F9-180B17BB987E}"/>
              </a:ext>
            </a:extLst>
          </p:cNvPr>
          <p:cNvSpPr>
            <a:spLocks noGrp="1"/>
          </p:cNvSpPr>
          <p:nvPr/>
        </p:nvSpPr>
        <p:spPr>
          <a:xfrm>
            <a:off x="0" y="1524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1DBF90EB-003F-4280-8A88-7919B9E53599}"/>
              </a:ext>
            </a:extLst>
          </p:cNvPr>
          <p:cNvSpPr>
            <a:spLocks noGrp="1"/>
          </p:cNvSpPr>
          <p:nvPr/>
        </p:nvSpPr>
        <p:spPr>
          <a:xfrm>
            <a:off x="0" y="2286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74676900-E3BC-4148-9763-B881A6B63221}"/>
              </a:ext>
            </a:extLst>
          </p:cNvPr>
          <p:cNvSpPr>
            <a:spLocks noGrp="1"/>
          </p:cNvSpPr>
          <p:nvPr/>
        </p:nvSpPr>
        <p:spPr>
          <a:xfrm>
            <a:off x="0" y="3048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817965D9-E9B0-4D09-9C99-90CE47A66F0F}"/>
              </a:ext>
            </a:extLst>
          </p:cNvPr>
          <p:cNvSpPr>
            <a:spLocks noGrp="1"/>
          </p:cNvSpPr>
          <p:nvPr/>
        </p:nvSpPr>
        <p:spPr>
          <a:xfrm>
            <a:off x="0" y="3810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1E53589B-0848-4840-A6C2-3CFFD4F67598}"/>
              </a:ext>
            </a:extLst>
          </p:cNvPr>
          <p:cNvSpPr>
            <a:spLocks noGrp="1"/>
          </p:cNvSpPr>
          <p:nvPr/>
        </p:nvSpPr>
        <p:spPr>
          <a:xfrm>
            <a:off x="0" y="4572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84421E55-2F97-4358-9F97-3A3631C60379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E973F60D-0299-4A42-B15B-9AC3B6C0149D}"/>
              </a:ext>
            </a:extLst>
          </p:cNvPr>
          <p:cNvSpPr>
            <a:spLocks noGrp="1"/>
          </p:cNvSpPr>
          <p:nvPr/>
        </p:nvSpPr>
        <p:spPr>
          <a:xfrm>
            <a:off x="0" y="6096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9805130B-9113-42E5-A0AB-FF438F47BC50}"/>
              </a:ext>
            </a:extLst>
          </p:cNvPr>
          <p:cNvSpPr>
            <a:spLocks noGrp="1"/>
          </p:cNvSpPr>
          <p:nvPr/>
        </p:nvSpPr>
        <p:spPr>
          <a:xfrm>
            <a:off x="0" y="6858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27151425-2027-4CE5-AEEE-FFFE814A98F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A3FF7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1F2EB40B-927E-409F-8AE2-EE9DA3AFBD76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95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EEF8F2"/>
                </a:solidFill>
              </a:defRPr>
            </a:pPr>
            <a:r>
              <a:rPr sz="1125" b="1">
                <a:solidFill>
                  <a:srgbClr val="EEF8F2"/>
                </a:solidFill>
              </a:rPr>
              <a:t>Challenge Statement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EE50C673-06EE-49D6-935B-BD4165C23623}"/>
              </a:ext>
            </a:extLst>
          </p:cNvPr>
          <p:cNvSpPr>
            <a:spLocks noGrp="1"/>
          </p:cNvSpPr>
          <p:nvPr/>
        </p:nvSpPr>
        <p:spPr>
          <a:xfrm>
            <a:off x="11049000" y="266700"/>
            <a:ext cx="533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1">
                <a:solidFill>
                  <a:srgbClr val="A6B8AF"/>
                </a:solidFill>
              </a:defRPr>
            </a:pPr>
            <a:r>
              <a:rPr sz="1050" b="1">
                <a:solidFill>
                  <a:srgbClr val="A6B8AF"/>
                </a:solidFill>
              </a:rPr>
              <a:t>01</a:t>
            </a:r>
          </a:p>
        </p:txBody>
      </p:sp>
      <p:sp>
        <p:nvSpPr>
          <p:cNvPr id="32" name="矩形: 圓角 31">
            <a:extLst>
              <a:ext uri="{FF2B5EF4-FFF2-40B4-BE49-F238E27FC236}">
                <a16:creationId xmlns:a16="http://schemas.microsoft.com/office/drawing/2014/main" id="{2536218D-75AE-434A-A6F4-94AD06E59382}"/>
              </a:ext>
            </a:extLst>
          </p:cNvPr>
          <p:cNvSpPr>
            <a:spLocks noGrp="1"/>
          </p:cNvSpPr>
          <p:nvPr/>
        </p:nvSpPr>
        <p:spPr>
          <a:xfrm>
            <a:off x="685800" y="876300"/>
            <a:ext cx="3238500" cy="323850"/>
          </a:xfrm>
          <a:prstGeom prst="roundRect">
            <a:avLst>
              <a:gd name="adj" fmla="val 23529"/>
            </a:avLst>
          </a:prstGeom>
          <a:solidFill>
            <a:srgbClr val="6EE7D8">
              <a:alpha val="12000"/>
            </a:srgbClr>
          </a:solidFill>
          <a:ln w="9525">
            <a:solidFill>
              <a:srgbClr val="6EE7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23D9D312-47E7-4CEC-A7DB-3338FB5F221F}"/>
              </a:ext>
            </a:extLst>
          </p:cNvPr>
          <p:cNvSpPr>
            <a:spLocks noGrp="1"/>
          </p:cNvSpPr>
          <p:nvPr/>
        </p:nvSpPr>
        <p:spPr>
          <a:xfrm>
            <a:off x="819150" y="942975"/>
            <a:ext cx="29718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1">
                <a:solidFill>
                  <a:srgbClr val="6EE7D8"/>
                </a:solidFill>
              </a:defRPr>
            </a:pPr>
            <a:r>
              <a:rPr sz="900" b="1">
                <a:solidFill>
                  <a:srgbClr val="6EE7D8"/>
                </a:solidFill>
              </a:rPr>
              <a:t>A2: AUTHENTICITY IN A SYNTHETIC WORLD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25EDEC38-6B00-448B-A148-D20CE2C93254}"/>
              </a:ext>
            </a:extLst>
          </p:cNvPr>
          <p:cNvSpPr>
            <a:spLocks noGrp="1"/>
          </p:cNvSpPr>
          <p:nvPr/>
        </p:nvSpPr>
        <p:spPr>
          <a:xfrm>
            <a:off x="685800" y="1524000"/>
            <a:ext cx="5905500" cy="704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4500" b="1">
                <a:solidFill>
                  <a:srgbClr val="EEF8F2"/>
                </a:solidFill>
              </a:defRPr>
            </a:pPr>
            <a:r>
              <a:rPr sz="4500" b="1">
                <a:solidFill>
                  <a:srgbClr val="EEF8F2"/>
                </a:solidFill>
              </a:rPr>
              <a:t>ContentSeal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9577B282-13F8-4BBF-AA99-8E94C7FF7095}"/>
              </a:ext>
            </a:extLst>
          </p:cNvPr>
          <p:cNvSpPr>
            <a:spLocks noGrp="1"/>
          </p:cNvSpPr>
          <p:nvPr/>
        </p:nvSpPr>
        <p:spPr>
          <a:xfrm>
            <a:off x="723900" y="2419350"/>
            <a:ext cx="6858000" cy="8572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325" b="0">
                <a:solidFill>
                  <a:srgbClr val="A3FF7A"/>
                </a:solidFill>
              </a:defRPr>
            </a:pPr>
            <a:r>
              <a:rPr sz="2325" b="0">
                <a:solidFill>
                  <a:srgbClr val="A3FF7A"/>
                </a:solidFill>
              </a:rPr>
              <a:t>Recover trusted sources after screenshots break provenance.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74211047-5EBD-41E2-BDE3-1159FD80AA14}"/>
              </a:ext>
            </a:extLst>
          </p:cNvPr>
          <p:cNvSpPr>
            <a:spLocks noGrp="1"/>
          </p:cNvSpPr>
          <p:nvPr/>
        </p:nvSpPr>
        <p:spPr>
          <a:xfrm>
            <a:off x="7772400" y="1333500"/>
            <a:ext cx="3143250" cy="3048000"/>
          </a:xfrm>
          <a:prstGeom prst="roundRect">
            <a:avLst>
              <a:gd name="adj" fmla="val 2500"/>
            </a:avLst>
          </a:prstGeom>
          <a:solidFill>
            <a:srgbClr val="10261D">
              <a:alpha val="88000"/>
            </a:srgbClr>
          </a:solidFill>
          <a:ln w="9525">
            <a:solidFill>
              <a:srgbClr val="6EE7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75" name="圖片 74"/>
          <p:cNvPicPr>
            <a:picLocks noChangeAspect="1"/>
          </p:cNvPicPr>
          <p:nvPr/>
        </p:nvPicPr>
        <p:blipFill>
          <a:blip r:embed="rId3"/>
          <a:stretch/>
        </p:blipFill>
        <p:spPr>
          <a:xfrm>
            <a:off x="8058150" y="1619250"/>
            <a:ext cx="2571750" cy="1952625"/>
          </a:xfrm>
          <a:prstGeom prst="roundRect">
            <a:avLst>
              <a:gd name="adj" fmla="val 3902"/>
            </a:avLst>
          </a:prstGeom>
        </p:spPr>
      </p:pic>
      <p:sp>
        <p:nvSpPr>
          <p:cNvPr id="38" name="矩形 37">
            <a:extLst>
              <a:ext uri="{FF2B5EF4-FFF2-40B4-BE49-F238E27FC236}">
                <a16:creationId xmlns:a16="http://schemas.microsoft.com/office/drawing/2014/main" id="{51E32BB1-F436-4AD6-9BDD-7A9462B7DFC8}"/>
              </a:ext>
            </a:extLst>
          </p:cNvPr>
          <p:cNvSpPr>
            <a:spLocks noGrp="1"/>
          </p:cNvSpPr>
          <p:nvPr/>
        </p:nvSpPr>
        <p:spPr>
          <a:xfrm>
            <a:off x="8115300" y="3848100"/>
            <a:ext cx="2457450" cy="400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425" b="0">
                <a:solidFill>
                  <a:srgbClr val="EEF8F2"/>
                </a:solidFill>
              </a:defRPr>
            </a:pPr>
            <a:r>
              <a:rPr sz="1425" b="0">
                <a:solidFill>
                  <a:srgbClr val="EEF8F2"/>
                </a:solidFill>
              </a:rPr>
              <a:t>Recover the source after metadata is gone.</a:t>
            </a:r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AFE833C5-D485-3AFC-D774-B0EC4BA9969E}"/>
              </a:ext>
            </a:extLst>
          </p:cNvPr>
          <p:cNvSpPr>
            <a:spLocks noGrp="1"/>
          </p:cNvSpPr>
          <p:nvPr/>
        </p:nvSpPr>
        <p:spPr>
          <a:xfrm>
            <a:off x="685800" y="6105525"/>
            <a:ext cx="7429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A6B8AF"/>
                </a:solidFill>
              </a:defRPr>
            </a:pPr>
            <a:r>
              <a:rPr lang="en-US" sz="1650" b="0" dirty="0">
                <a:solidFill>
                  <a:srgbClr val="A6B8AF"/>
                </a:solidFill>
              </a:rPr>
              <a:t>Pan Ting-Yu &amp; </a:t>
            </a:r>
            <a:r>
              <a:rPr lang="en-US" sz="1650" dirty="0">
                <a:solidFill>
                  <a:srgbClr val="A6B8AF"/>
                </a:solidFill>
              </a:rPr>
              <a:t>Lee Ming Xuan</a:t>
            </a:r>
            <a:endParaRPr sz="1650" b="0" dirty="0">
              <a:solidFill>
                <a:srgbClr val="A6B8AF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70136675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80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矩形 42">
            <a:extLst>
              <a:ext uri="{FF2B5EF4-FFF2-40B4-BE49-F238E27FC236}">
                <a16:creationId xmlns:a16="http://schemas.microsoft.com/office/drawing/2014/main" id="{13E50FB4-981E-4B28-842E-45ECCFC8923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807"/>
          </a:solidFill>
          <a:ln w="0">
            <a:solidFill>
              <a:srgbClr val="05080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3B28B5A-E6B2-4B89-B0E4-5976B0793CF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C910AAD-65B3-45CD-A983-03F1A3D009E9}"/>
              </a:ext>
            </a:extLst>
          </p:cNvPr>
          <p:cNvSpPr>
            <a:spLocks noGrp="1"/>
          </p:cNvSpPr>
          <p:nvPr/>
        </p:nvSpPr>
        <p:spPr>
          <a:xfrm>
            <a:off x="762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F618F83-8D8F-4556-B9EB-A6EC9E55592E}"/>
              </a:ext>
            </a:extLst>
          </p:cNvPr>
          <p:cNvSpPr>
            <a:spLocks noGrp="1"/>
          </p:cNvSpPr>
          <p:nvPr/>
        </p:nvSpPr>
        <p:spPr>
          <a:xfrm>
            <a:off x="1524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D435920-666F-475C-BA05-66950DC6FE2E}"/>
              </a:ext>
            </a:extLst>
          </p:cNvPr>
          <p:cNvSpPr>
            <a:spLocks noGrp="1"/>
          </p:cNvSpPr>
          <p:nvPr/>
        </p:nvSpPr>
        <p:spPr>
          <a:xfrm>
            <a:off x="2286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9A173083-701F-414D-B387-2077EBF89F25}"/>
              </a:ext>
            </a:extLst>
          </p:cNvPr>
          <p:cNvSpPr>
            <a:spLocks noGrp="1"/>
          </p:cNvSpPr>
          <p:nvPr/>
        </p:nvSpPr>
        <p:spPr>
          <a:xfrm>
            <a:off x="3048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35C6537-C80E-486B-86AB-02A206349F8B}"/>
              </a:ext>
            </a:extLst>
          </p:cNvPr>
          <p:cNvSpPr>
            <a:spLocks noGrp="1"/>
          </p:cNvSpPr>
          <p:nvPr/>
        </p:nvSpPr>
        <p:spPr>
          <a:xfrm>
            <a:off x="3810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E14B1579-0BE4-4A3D-9630-D2AF5FE785CB}"/>
              </a:ext>
            </a:extLst>
          </p:cNvPr>
          <p:cNvSpPr>
            <a:spLocks noGrp="1"/>
          </p:cNvSpPr>
          <p:nvPr/>
        </p:nvSpPr>
        <p:spPr>
          <a:xfrm>
            <a:off x="4572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4D77486A-BC37-4023-9D30-23BD95FB50E1}"/>
              </a:ext>
            </a:extLst>
          </p:cNvPr>
          <p:cNvSpPr>
            <a:spLocks noGrp="1"/>
          </p:cNvSpPr>
          <p:nvPr/>
        </p:nvSpPr>
        <p:spPr>
          <a:xfrm>
            <a:off x="5334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F6A9BCAF-22A6-41BA-BBF2-D225BAD8A65D}"/>
              </a:ext>
            </a:extLst>
          </p:cNvPr>
          <p:cNvSpPr>
            <a:spLocks noGrp="1"/>
          </p:cNvSpPr>
          <p:nvPr/>
        </p:nvSpPr>
        <p:spPr>
          <a:xfrm>
            <a:off x="6096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33B2F792-2C57-46CC-956F-DA1AFCF0A5D8}"/>
              </a:ext>
            </a:extLst>
          </p:cNvPr>
          <p:cNvSpPr>
            <a:spLocks noGrp="1"/>
          </p:cNvSpPr>
          <p:nvPr/>
        </p:nvSpPr>
        <p:spPr>
          <a:xfrm>
            <a:off x="6858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E380108-1983-4116-BE3A-A6C5381F9B9C}"/>
              </a:ext>
            </a:extLst>
          </p:cNvPr>
          <p:cNvSpPr>
            <a:spLocks noGrp="1"/>
          </p:cNvSpPr>
          <p:nvPr/>
        </p:nvSpPr>
        <p:spPr>
          <a:xfrm>
            <a:off x="7620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A71BC80B-21F3-45E3-89A7-9391A0F8E0F2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8807EE72-CC20-4450-BC59-757FC1B60B5E}"/>
              </a:ext>
            </a:extLst>
          </p:cNvPr>
          <p:cNvSpPr>
            <a:spLocks noGrp="1"/>
          </p:cNvSpPr>
          <p:nvPr/>
        </p:nvSpPr>
        <p:spPr>
          <a:xfrm>
            <a:off x="9144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5D2A459-0950-485B-8F30-2EF2E401713C}"/>
              </a:ext>
            </a:extLst>
          </p:cNvPr>
          <p:cNvSpPr>
            <a:spLocks noGrp="1"/>
          </p:cNvSpPr>
          <p:nvPr/>
        </p:nvSpPr>
        <p:spPr>
          <a:xfrm>
            <a:off x="9906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9802705-EC11-4313-9254-A257FE1C24B6}"/>
              </a:ext>
            </a:extLst>
          </p:cNvPr>
          <p:cNvSpPr>
            <a:spLocks noGrp="1"/>
          </p:cNvSpPr>
          <p:nvPr/>
        </p:nvSpPr>
        <p:spPr>
          <a:xfrm>
            <a:off x="10668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55AFBB1-431B-4248-A528-8ECD0D15CE76}"/>
              </a:ext>
            </a:extLst>
          </p:cNvPr>
          <p:cNvSpPr>
            <a:spLocks noGrp="1"/>
          </p:cNvSpPr>
          <p:nvPr/>
        </p:nvSpPr>
        <p:spPr>
          <a:xfrm>
            <a:off x="11430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1F34E6D7-94D5-439F-A564-B50806B948EE}"/>
              </a:ext>
            </a:extLst>
          </p:cNvPr>
          <p:cNvSpPr>
            <a:spLocks noGrp="1"/>
          </p:cNvSpPr>
          <p:nvPr/>
        </p:nvSpPr>
        <p:spPr>
          <a:xfrm>
            <a:off x="12192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38A56E5B-DCCB-4FFB-AD0F-A07310B2A3E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6A9D952-B01B-45E0-A1AD-9DA2771CB2D6}"/>
              </a:ext>
            </a:extLst>
          </p:cNvPr>
          <p:cNvSpPr>
            <a:spLocks noGrp="1"/>
          </p:cNvSpPr>
          <p:nvPr/>
        </p:nvSpPr>
        <p:spPr>
          <a:xfrm>
            <a:off x="0" y="762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73E44705-7974-472D-B51B-FA666242AA4C}"/>
              </a:ext>
            </a:extLst>
          </p:cNvPr>
          <p:cNvSpPr>
            <a:spLocks noGrp="1"/>
          </p:cNvSpPr>
          <p:nvPr/>
        </p:nvSpPr>
        <p:spPr>
          <a:xfrm>
            <a:off x="0" y="1524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06E6D746-0822-4D25-AC75-CCCEC0A42462}"/>
              </a:ext>
            </a:extLst>
          </p:cNvPr>
          <p:cNvSpPr>
            <a:spLocks noGrp="1"/>
          </p:cNvSpPr>
          <p:nvPr/>
        </p:nvSpPr>
        <p:spPr>
          <a:xfrm>
            <a:off x="0" y="2286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B872B3D7-7AA5-4761-BF1B-F27A3424A0F4}"/>
              </a:ext>
            </a:extLst>
          </p:cNvPr>
          <p:cNvSpPr>
            <a:spLocks noGrp="1"/>
          </p:cNvSpPr>
          <p:nvPr/>
        </p:nvSpPr>
        <p:spPr>
          <a:xfrm>
            <a:off x="0" y="3048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333591F9-E121-45F6-911D-941C6CEF4BBC}"/>
              </a:ext>
            </a:extLst>
          </p:cNvPr>
          <p:cNvSpPr>
            <a:spLocks noGrp="1"/>
          </p:cNvSpPr>
          <p:nvPr/>
        </p:nvSpPr>
        <p:spPr>
          <a:xfrm>
            <a:off x="0" y="3810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BA44E331-1AE4-4088-8DF2-E22A6D198F7B}"/>
              </a:ext>
            </a:extLst>
          </p:cNvPr>
          <p:cNvSpPr>
            <a:spLocks noGrp="1"/>
          </p:cNvSpPr>
          <p:nvPr/>
        </p:nvSpPr>
        <p:spPr>
          <a:xfrm>
            <a:off x="0" y="4572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663D727E-270A-41B2-9339-A4B1604DFC58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EC856C85-29B7-42BA-8A84-425A8C8E61FB}"/>
              </a:ext>
            </a:extLst>
          </p:cNvPr>
          <p:cNvSpPr>
            <a:spLocks noGrp="1"/>
          </p:cNvSpPr>
          <p:nvPr/>
        </p:nvSpPr>
        <p:spPr>
          <a:xfrm>
            <a:off x="0" y="6096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3E68D889-2780-4037-9D6E-0680C1A762A6}"/>
              </a:ext>
            </a:extLst>
          </p:cNvPr>
          <p:cNvSpPr>
            <a:spLocks noGrp="1"/>
          </p:cNvSpPr>
          <p:nvPr/>
        </p:nvSpPr>
        <p:spPr>
          <a:xfrm>
            <a:off x="0" y="6858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BECFC813-FEB8-41AD-8094-35415C74001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A3FF7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3211C05D-F7DB-4032-98D0-2B38A817453C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95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EEF8F2"/>
                </a:solidFill>
              </a:defRPr>
            </a:pPr>
            <a:r>
              <a:rPr sz="1125" b="1">
                <a:solidFill>
                  <a:srgbClr val="EEF8F2"/>
                </a:solidFill>
              </a:rPr>
              <a:t>Target User &amp; Use Case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8DF0EA4F-1E69-4724-A2CF-5EB1B0588BB0}"/>
              </a:ext>
            </a:extLst>
          </p:cNvPr>
          <p:cNvSpPr>
            <a:spLocks noGrp="1"/>
          </p:cNvSpPr>
          <p:nvPr/>
        </p:nvSpPr>
        <p:spPr>
          <a:xfrm>
            <a:off x="11049000" y="266700"/>
            <a:ext cx="533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1">
                <a:solidFill>
                  <a:srgbClr val="A6B8AF"/>
                </a:solidFill>
              </a:defRPr>
            </a:pPr>
            <a:r>
              <a:rPr sz="1050" b="1">
                <a:solidFill>
                  <a:srgbClr val="A6B8AF"/>
                </a:solidFill>
              </a:rPr>
              <a:t>02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B6796E5E-1ED6-4A57-AC3C-6422D6156BE4}"/>
              </a:ext>
            </a:extLst>
          </p:cNvPr>
          <p:cNvSpPr>
            <a:spLocks noGrp="1"/>
          </p:cNvSpPr>
          <p:nvPr/>
        </p:nvSpPr>
        <p:spPr>
          <a:xfrm>
            <a:off x="685800" y="914400"/>
            <a:ext cx="89535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300" b="1">
                <a:solidFill>
                  <a:srgbClr val="EEF8F2"/>
                </a:solidFill>
              </a:defRPr>
            </a:pPr>
            <a:r>
              <a:rPr sz="3300" b="1">
                <a:solidFill>
                  <a:srgbClr val="EEF8F2"/>
                </a:solidFill>
              </a:rPr>
              <a:t>Who exactly is this for?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E5955F06-A13A-468C-B579-25430DD59FEF}"/>
              </a:ext>
            </a:extLst>
          </p:cNvPr>
          <p:cNvSpPr>
            <a:spLocks noGrp="1"/>
          </p:cNvSpPr>
          <p:nvPr/>
        </p:nvSpPr>
        <p:spPr>
          <a:xfrm>
            <a:off x="723900" y="2095500"/>
            <a:ext cx="7429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A6B8AF"/>
                </a:solidFill>
              </a:defRPr>
            </a:pPr>
            <a:r>
              <a:rPr sz="1650" b="0" dirty="0">
                <a:solidFill>
                  <a:srgbClr val="A6B8AF"/>
                </a:solidFill>
              </a:rPr>
              <a:t>A specific first ICP, not a broad audience.</a:t>
            </a:r>
          </a:p>
        </p:txBody>
      </p:sp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7964BEF0-DC04-4CB6-B5F0-D1E12892574B}"/>
              </a:ext>
            </a:extLst>
          </p:cNvPr>
          <p:cNvSpPr>
            <a:spLocks noGrp="1"/>
          </p:cNvSpPr>
          <p:nvPr/>
        </p:nvSpPr>
        <p:spPr>
          <a:xfrm>
            <a:off x="819150" y="3143250"/>
            <a:ext cx="2952750" cy="1524000"/>
          </a:xfrm>
          <a:prstGeom prst="roundRect">
            <a:avLst>
              <a:gd name="adj" fmla="val 5000"/>
            </a:avLst>
          </a:prstGeom>
          <a:solidFill>
            <a:srgbClr val="10261D">
              <a:alpha val="90000"/>
            </a:srgbClr>
          </a:solidFill>
          <a:ln w="9525">
            <a:solidFill>
              <a:srgbClr val="A3FF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5A1F0EBE-825A-4F4E-9417-B3A7B0F8CC0E}"/>
              </a:ext>
            </a:extLst>
          </p:cNvPr>
          <p:cNvSpPr>
            <a:spLocks noGrp="1"/>
          </p:cNvSpPr>
          <p:nvPr/>
        </p:nvSpPr>
        <p:spPr>
          <a:xfrm>
            <a:off x="1028700" y="3333750"/>
            <a:ext cx="2533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A3FF7A"/>
                </a:solidFill>
              </a:defRPr>
            </a:pPr>
            <a:r>
              <a:rPr sz="1575" b="1">
                <a:solidFill>
                  <a:srgbClr val="A3FF7A"/>
                </a:solidFill>
              </a:rPr>
              <a:t>First target user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83D899AC-A87E-4B4D-BEFB-3DE7D23FEAE7}"/>
              </a:ext>
            </a:extLst>
          </p:cNvPr>
          <p:cNvSpPr>
            <a:spLocks noGrp="1"/>
          </p:cNvSpPr>
          <p:nvPr/>
        </p:nvSpPr>
        <p:spPr>
          <a:xfrm>
            <a:off x="1028700" y="3790950"/>
            <a:ext cx="25336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EEF8F2"/>
                </a:solidFill>
              </a:defRPr>
            </a:pPr>
            <a:r>
              <a:rPr sz="1275" b="0">
                <a:solidFill>
                  <a:srgbClr val="EEF8F2"/>
                </a:solidFill>
              </a:rPr>
              <a:t>Student clubs, event teams, and small publishers who issue public posters or notices.</a:t>
            </a:r>
          </a:p>
        </p:txBody>
      </p:sp>
      <p:sp>
        <p:nvSpPr>
          <p:cNvPr id="37" name="矩形: 圓角 36">
            <a:extLst>
              <a:ext uri="{FF2B5EF4-FFF2-40B4-BE49-F238E27FC236}">
                <a16:creationId xmlns:a16="http://schemas.microsoft.com/office/drawing/2014/main" id="{7F3346F8-777B-428E-A891-49B8F7A1B67F}"/>
              </a:ext>
            </a:extLst>
          </p:cNvPr>
          <p:cNvSpPr>
            <a:spLocks noGrp="1"/>
          </p:cNvSpPr>
          <p:nvPr/>
        </p:nvSpPr>
        <p:spPr>
          <a:xfrm>
            <a:off x="4629150" y="3143250"/>
            <a:ext cx="2952750" cy="1524000"/>
          </a:xfrm>
          <a:prstGeom prst="roundRect">
            <a:avLst>
              <a:gd name="adj" fmla="val 5000"/>
            </a:avLst>
          </a:prstGeom>
          <a:solidFill>
            <a:srgbClr val="10261D">
              <a:alpha val="90000"/>
            </a:srgbClr>
          </a:solidFill>
          <a:ln w="9525">
            <a:solidFill>
              <a:srgbClr val="6EE7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01A37742-EE8A-4779-82FF-00747215D143}"/>
              </a:ext>
            </a:extLst>
          </p:cNvPr>
          <p:cNvSpPr>
            <a:spLocks noGrp="1"/>
          </p:cNvSpPr>
          <p:nvPr/>
        </p:nvSpPr>
        <p:spPr>
          <a:xfrm>
            <a:off x="4838700" y="3333750"/>
            <a:ext cx="2533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6EE7D8"/>
                </a:solidFill>
              </a:defRPr>
            </a:pPr>
            <a:r>
              <a:rPr sz="1575" b="1">
                <a:solidFill>
                  <a:srgbClr val="6EE7D8"/>
                </a:solidFill>
              </a:rPr>
              <a:t>Use case moment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124235D7-9B3A-4F84-AD85-D80CFBED8B9B}"/>
              </a:ext>
            </a:extLst>
          </p:cNvPr>
          <p:cNvSpPr>
            <a:spLocks noGrp="1"/>
          </p:cNvSpPr>
          <p:nvPr/>
        </p:nvSpPr>
        <p:spPr>
          <a:xfrm>
            <a:off x="4838700" y="3790950"/>
            <a:ext cx="25336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EEF8F2"/>
                </a:solidFill>
              </a:defRPr>
            </a:pPr>
            <a:r>
              <a:rPr sz="1275" b="0">
                <a:solidFill>
                  <a:srgbClr val="EEF8F2"/>
                </a:solidFill>
              </a:rPr>
              <a:t>A viewer receives a screenshot or reposted image in chat or social media before resharing.</a:t>
            </a:r>
          </a:p>
        </p:txBody>
      </p:sp>
      <p:sp>
        <p:nvSpPr>
          <p:cNvPr id="40" name="矩形: 圓角 39">
            <a:extLst>
              <a:ext uri="{FF2B5EF4-FFF2-40B4-BE49-F238E27FC236}">
                <a16:creationId xmlns:a16="http://schemas.microsoft.com/office/drawing/2014/main" id="{60132BE3-212E-42E2-9385-9B64F3F30085}"/>
              </a:ext>
            </a:extLst>
          </p:cNvPr>
          <p:cNvSpPr>
            <a:spLocks noGrp="1"/>
          </p:cNvSpPr>
          <p:nvPr/>
        </p:nvSpPr>
        <p:spPr>
          <a:xfrm>
            <a:off x="8439150" y="3143250"/>
            <a:ext cx="2952750" cy="1524000"/>
          </a:xfrm>
          <a:prstGeom prst="roundRect">
            <a:avLst>
              <a:gd name="adj" fmla="val 5000"/>
            </a:avLst>
          </a:prstGeom>
          <a:solidFill>
            <a:srgbClr val="10261D">
              <a:alpha val="90000"/>
            </a:srgbClr>
          </a:solidFill>
          <a:ln w="9525">
            <a:solidFill>
              <a:srgbClr val="F0C8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A82B055A-DDCF-44F6-874D-A6ACF9D0BDC6}"/>
              </a:ext>
            </a:extLst>
          </p:cNvPr>
          <p:cNvSpPr>
            <a:spLocks noGrp="1"/>
          </p:cNvSpPr>
          <p:nvPr/>
        </p:nvSpPr>
        <p:spPr>
          <a:xfrm>
            <a:off x="8648700" y="3333750"/>
            <a:ext cx="2533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F0C86B"/>
                </a:solidFill>
              </a:defRPr>
            </a:pPr>
            <a:r>
              <a:rPr sz="1575" b="1">
                <a:solidFill>
                  <a:srgbClr val="F0C86B"/>
                </a:solidFill>
              </a:rPr>
              <a:t>Struggle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BB540ED0-21AA-48D8-8EF9-8B1953382BF6}"/>
              </a:ext>
            </a:extLst>
          </p:cNvPr>
          <p:cNvSpPr>
            <a:spLocks noGrp="1"/>
          </p:cNvSpPr>
          <p:nvPr/>
        </p:nvSpPr>
        <p:spPr>
          <a:xfrm>
            <a:off x="8648700" y="3790950"/>
            <a:ext cx="25336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EEF8F2"/>
                </a:solidFill>
              </a:defRPr>
            </a:pPr>
            <a:r>
              <a:rPr sz="1275" b="0">
                <a:solidFill>
                  <a:srgbClr val="EEF8F2"/>
                </a:solidFill>
              </a:rPr>
              <a:t>They cannot tell whether the image points back to an accountable source.</a:t>
            </a:r>
          </a:p>
        </p:txBody>
      </p:sp>
    </p:spTree>
    <p:extLst>
      <p:ext uri="{BB962C8B-B14F-4D97-AF65-F5344CB8AC3E}">
        <p14:creationId xmlns:p14="http://schemas.microsoft.com/office/powerpoint/2010/main" val="19224696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80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矩形 39">
            <a:extLst>
              <a:ext uri="{FF2B5EF4-FFF2-40B4-BE49-F238E27FC236}">
                <a16:creationId xmlns:a16="http://schemas.microsoft.com/office/drawing/2014/main" id="{E6A07858-3D1F-44FE-AA8D-B3CDDFCE5CF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807"/>
          </a:solidFill>
          <a:ln w="0">
            <a:solidFill>
              <a:srgbClr val="05080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FAA0CBFB-1500-4CC5-95E7-E836CDFA3F9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691C1097-2AD5-430B-AD46-F5C5C868DABA}"/>
              </a:ext>
            </a:extLst>
          </p:cNvPr>
          <p:cNvSpPr>
            <a:spLocks noGrp="1"/>
          </p:cNvSpPr>
          <p:nvPr/>
        </p:nvSpPr>
        <p:spPr>
          <a:xfrm>
            <a:off x="762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D884BD5-C9EF-48DA-85AC-DA78A6876592}"/>
              </a:ext>
            </a:extLst>
          </p:cNvPr>
          <p:cNvSpPr>
            <a:spLocks noGrp="1"/>
          </p:cNvSpPr>
          <p:nvPr/>
        </p:nvSpPr>
        <p:spPr>
          <a:xfrm>
            <a:off x="1524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9C354672-A4F0-45D0-9AE2-9BFD904059BD}"/>
              </a:ext>
            </a:extLst>
          </p:cNvPr>
          <p:cNvSpPr>
            <a:spLocks noGrp="1"/>
          </p:cNvSpPr>
          <p:nvPr/>
        </p:nvSpPr>
        <p:spPr>
          <a:xfrm>
            <a:off x="2286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1A5632B-171A-43DC-91C2-8C62AF9A9CF4}"/>
              </a:ext>
            </a:extLst>
          </p:cNvPr>
          <p:cNvSpPr>
            <a:spLocks noGrp="1"/>
          </p:cNvSpPr>
          <p:nvPr/>
        </p:nvSpPr>
        <p:spPr>
          <a:xfrm>
            <a:off x="3048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351CF9D7-5E14-4242-9131-EFE40793DA2D}"/>
              </a:ext>
            </a:extLst>
          </p:cNvPr>
          <p:cNvSpPr>
            <a:spLocks noGrp="1"/>
          </p:cNvSpPr>
          <p:nvPr/>
        </p:nvSpPr>
        <p:spPr>
          <a:xfrm>
            <a:off x="3810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83EE0CC6-33A7-4AB1-AD9A-D81DD3F89970}"/>
              </a:ext>
            </a:extLst>
          </p:cNvPr>
          <p:cNvSpPr>
            <a:spLocks noGrp="1"/>
          </p:cNvSpPr>
          <p:nvPr/>
        </p:nvSpPr>
        <p:spPr>
          <a:xfrm>
            <a:off x="4572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F2F8E6F2-019B-4932-AD5D-BC8497240B06}"/>
              </a:ext>
            </a:extLst>
          </p:cNvPr>
          <p:cNvSpPr>
            <a:spLocks noGrp="1"/>
          </p:cNvSpPr>
          <p:nvPr/>
        </p:nvSpPr>
        <p:spPr>
          <a:xfrm>
            <a:off x="5334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C3497709-51EB-448F-89DC-564509929552}"/>
              </a:ext>
            </a:extLst>
          </p:cNvPr>
          <p:cNvSpPr>
            <a:spLocks noGrp="1"/>
          </p:cNvSpPr>
          <p:nvPr/>
        </p:nvSpPr>
        <p:spPr>
          <a:xfrm>
            <a:off x="6096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56FE479-48B9-43F0-9DD0-97F9FAA6B745}"/>
              </a:ext>
            </a:extLst>
          </p:cNvPr>
          <p:cNvSpPr>
            <a:spLocks noGrp="1"/>
          </p:cNvSpPr>
          <p:nvPr/>
        </p:nvSpPr>
        <p:spPr>
          <a:xfrm>
            <a:off x="6858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C5BAD070-AFFF-446B-976E-792BEF5053FF}"/>
              </a:ext>
            </a:extLst>
          </p:cNvPr>
          <p:cNvSpPr>
            <a:spLocks noGrp="1"/>
          </p:cNvSpPr>
          <p:nvPr/>
        </p:nvSpPr>
        <p:spPr>
          <a:xfrm>
            <a:off x="7620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C92FD00-A853-4DAC-83F3-9460794FC4A9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B068DBE-5E69-40B0-B35F-91BE2CBEAADD}"/>
              </a:ext>
            </a:extLst>
          </p:cNvPr>
          <p:cNvSpPr>
            <a:spLocks noGrp="1"/>
          </p:cNvSpPr>
          <p:nvPr/>
        </p:nvSpPr>
        <p:spPr>
          <a:xfrm>
            <a:off x="9144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66958C90-7B2A-4CE2-AC62-CD14B9B52F14}"/>
              </a:ext>
            </a:extLst>
          </p:cNvPr>
          <p:cNvSpPr>
            <a:spLocks noGrp="1"/>
          </p:cNvSpPr>
          <p:nvPr/>
        </p:nvSpPr>
        <p:spPr>
          <a:xfrm>
            <a:off x="9906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D717A44B-793E-44B1-8E0E-F9EA71AF14C4}"/>
              </a:ext>
            </a:extLst>
          </p:cNvPr>
          <p:cNvSpPr>
            <a:spLocks noGrp="1"/>
          </p:cNvSpPr>
          <p:nvPr/>
        </p:nvSpPr>
        <p:spPr>
          <a:xfrm>
            <a:off x="10668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B72DC92B-A301-4942-897D-CCA3B1608E81}"/>
              </a:ext>
            </a:extLst>
          </p:cNvPr>
          <p:cNvSpPr>
            <a:spLocks noGrp="1"/>
          </p:cNvSpPr>
          <p:nvPr/>
        </p:nvSpPr>
        <p:spPr>
          <a:xfrm>
            <a:off x="11430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2B0A5BD-F8D0-4388-8541-3BD593CCC647}"/>
              </a:ext>
            </a:extLst>
          </p:cNvPr>
          <p:cNvSpPr>
            <a:spLocks noGrp="1"/>
          </p:cNvSpPr>
          <p:nvPr/>
        </p:nvSpPr>
        <p:spPr>
          <a:xfrm>
            <a:off x="12192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B2C9CBD0-925A-46F3-9305-AAE7E974631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61D9E55B-3054-41A0-9EF7-C43EBEEAF99A}"/>
              </a:ext>
            </a:extLst>
          </p:cNvPr>
          <p:cNvSpPr>
            <a:spLocks noGrp="1"/>
          </p:cNvSpPr>
          <p:nvPr/>
        </p:nvSpPr>
        <p:spPr>
          <a:xfrm>
            <a:off x="0" y="762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31D5A79A-1CEA-4780-AEFA-8DC1F1C885BF}"/>
              </a:ext>
            </a:extLst>
          </p:cNvPr>
          <p:cNvSpPr>
            <a:spLocks noGrp="1"/>
          </p:cNvSpPr>
          <p:nvPr/>
        </p:nvSpPr>
        <p:spPr>
          <a:xfrm>
            <a:off x="0" y="1524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F09D6EF-5CFB-419F-B567-34E908119E80}"/>
              </a:ext>
            </a:extLst>
          </p:cNvPr>
          <p:cNvSpPr>
            <a:spLocks noGrp="1"/>
          </p:cNvSpPr>
          <p:nvPr/>
        </p:nvSpPr>
        <p:spPr>
          <a:xfrm>
            <a:off x="0" y="2286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DFF01146-8C1B-4D7B-91C6-15F004812A3D}"/>
              </a:ext>
            </a:extLst>
          </p:cNvPr>
          <p:cNvSpPr>
            <a:spLocks noGrp="1"/>
          </p:cNvSpPr>
          <p:nvPr/>
        </p:nvSpPr>
        <p:spPr>
          <a:xfrm>
            <a:off x="0" y="3048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DF741780-983A-4C68-B51D-7C55FCF8F1CB}"/>
              </a:ext>
            </a:extLst>
          </p:cNvPr>
          <p:cNvSpPr>
            <a:spLocks noGrp="1"/>
          </p:cNvSpPr>
          <p:nvPr/>
        </p:nvSpPr>
        <p:spPr>
          <a:xfrm>
            <a:off x="0" y="3810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00DB75D8-27FC-4021-B702-4BD1B3F357D9}"/>
              </a:ext>
            </a:extLst>
          </p:cNvPr>
          <p:cNvSpPr>
            <a:spLocks noGrp="1"/>
          </p:cNvSpPr>
          <p:nvPr/>
        </p:nvSpPr>
        <p:spPr>
          <a:xfrm>
            <a:off x="0" y="4572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EFD4DCA5-EF97-4515-AC9E-3ACBB289BC15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951B47FA-D1DE-4076-9431-3AB0C7055B2F}"/>
              </a:ext>
            </a:extLst>
          </p:cNvPr>
          <p:cNvSpPr>
            <a:spLocks noGrp="1"/>
          </p:cNvSpPr>
          <p:nvPr/>
        </p:nvSpPr>
        <p:spPr>
          <a:xfrm>
            <a:off x="0" y="6096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EE2E331F-72F4-4D7C-AD53-49DB662DF630}"/>
              </a:ext>
            </a:extLst>
          </p:cNvPr>
          <p:cNvSpPr>
            <a:spLocks noGrp="1"/>
          </p:cNvSpPr>
          <p:nvPr/>
        </p:nvSpPr>
        <p:spPr>
          <a:xfrm>
            <a:off x="0" y="6858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2F3C177D-E62A-4ED8-9AAD-13CEAABD01C7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A3FF7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7809AB2-E2E0-4307-8B9B-3461AA35F5E1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95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EEF8F2"/>
                </a:solidFill>
              </a:defRPr>
            </a:pPr>
            <a:r>
              <a:rPr sz="1125" b="1">
                <a:solidFill>
                  <a:srgbClr val="EEF8F2"/>
                </a:solidFill>
              </a:rPr>
              <a:t>Pain Point &amp; Bottleneck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7F5E810C-A4B5-4E47-893C-B8D722BB5A4E}"/>
              </a:ext>
            </a:extLst>
          </p:cNvPr>
          <p:cNvSpPr>
            <a:spLocks noGrp="1"/>
          </p:cNvSpPr>
          <p:nvPr/>
        </p:nvSpPr>
        <p:spPr>
          <a:xfrm>
            <a:off x="11049000" y="266700"/>
            <a:ext cx="533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1">
                <a:solidFill>
                  <a:srgbClr val="A6B8AF"/>
                </a:solidFill>
              </a:defRPr>
            </a:pPr>
            <a:r>
              <a:rPr sz="1050" b="1">
                <a:solidFill>
                  <a:srgbClr val="A6B8AF"/>
                </a:solidFill>
              </a:rPr>
              <a:t>03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5E3EF55-947D-4BF1-B298-B6C51ABA1843}"/>
              </a:ext>
            </a:extLst>
          </p:cNvPr>
          <p:cNvSpPr>
            <a:spLocks noGrp="1"/>
          </p:cNvSpPr>
          <p:nvPr/>
        </p:nvSpPr>
        <p:spPr>
          <a:xfrm>
            <a:off x="685800" y="914400"/>
            <a:ext cx="89535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300" b="1">
                <a:solidFill>
                  <a:srgbClr val="EEF8F2"/>
                </a:solidFill>
              </a:defRPr>
            </a:pPr>
            <a:r>
              <a:rPr sz="3300" b="1">
                <a:solidFill>
                  <a:srgbClr val="EEF8F2"/>
                </a:solidFill>
              </a:rPr>
              <a:t>The pain is uncertainty. The bottleneck is lost context.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333AAC8B-3DB0-407A-B71E-F6BC447B7BF2}"/>
              </a:ext>
            </a:extLst>
          </p:cNvPr>
          <p:cNvSpPr>
            <a:spLocks noGrp="1"/>
          </p:cNvSpPr>
          <p:nvPr/>
        </p:nvSpPr>
        <p:spPr>
          <a:xfrm>
            <a:off x="723900" y="2095500"/>
            <a:ext cx="7429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A6B8AF"/>
                </a:solidFill>
              </a:defRPr>
            </a:pPr>
            <a:r>
              <a:rPr sz="1650" b="0">
                <a:solidFill>
                  <a:srgbClr val="A6B8AF"/>
                </a:solidFill>
              </a:rPr>
              <a:t>A screenshot can look official while source signals are missing.</a:t>
            </a:r>
          </a:p>
        </p:txBody>
      </p:sp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4686BA7B-877A-4B56-99A2-F03EFBC7072F}"/>
              </a:ext>
            </a:extLst>
          </p:cNvPr>
          <p:cNvSpPr>
            <a:spLocks noGrp="1"/>
          </p:cNvSpPr>
          <p:nvPr/>
        </p:nvSpPr>
        <p:spPr>
          <a:xfrm>
            <a:off x="990600" y="3124200"/>
            <a:ext cx="4457700" cy="1962150"/>
          </a:xfrm>
          <a:prstGeom prst="roundRect">
            <a:avLst>
              <a:gd name="adj" fmla="val 3883"/>
            </a:avLst>
          </a:prstGeom>
          <a:solidFill>
            <a:srgbClr val="FF6B5F">
              <a:alpha val="10000"/>
            </a:srgbClr>
          </a:solidFill>
          <a:ln w="9525">
            <a:solidFill>
              <a:srgbClr val="FF6B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20643A40-F343-4EAF-A998-E572D395466A}"/>
              </a:ext>
            </a:extLst>
          </p:cNvPr>
          <p:cNvSpPr>
            <a:spLocks noGrp="1"/>
          </p:cNvSpPr>
          <p:nvPr/>
        </p:nvSpPr>
        <p:spPr>
          <a:xfrm>
            <a:off x="1295400" y="3429000"/>
            <a:ext cx="3619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950" b="1">
                <a:solidFill>
                  <a:srgbClr val="FF6B5F"/>
                </a:solidFill>
              </a:defRPr>
            </a:pPr>
            <a:r>
              <a:rPr sz="1950" b="1">
                <a:solidFill>
                  <a:srgbClr val="FF6B5F"/>
                </a:solidFill>
              </a:rPr>
              <a:t>Pain point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A2AA2C23-BA63-4E56-9AAC-053F45ABEA0C}"/>
              </a:ext>
            </a:extLst>
          </p:cNvPr>
          <p:cNvSpPr>
            <a:spLocks noGrp="1"/>
          </p:cNvSpPr>
          <p:nvPr/>
        </p:nvSpPr>
        <p:spPr>
          <a:xfrm>
            <a:off x="1295400" y="4000500"/>
            <a:ext cx="35433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EEF8F2"/>
                </a:solidFill>
              </a:defRPr>
            </a:pPr>
            <a:r>
              <a:rPr sz="1650" b="0">
                <a:solidFill>
                  <a:srgbClr val="EEF8F2"/>
                </a:solidFill>
              </a:rPr>
              <a:t>Users see a screenshot but cannot tell who issued it, whether it changed, or if it is current.</a:t>
            </a:r>
          </a:p>
        </p:txBody>
      </p:sp>
      <p:sp>
        <p:nvSpPr>
          <p:cNvPr id="37" name="矩形: 圓角 36">
            <a:extLst>
              <a:ext uri="{FF2B5EF4-FFF2-40B4-BE49-F238E27FC236}">
                <a16:creationId xmlns:a16="http://schemas.microsoft.com/office/drawing/2014/main" id="{67F754E8-E710-4DBF-82E0-EB6D42F7BBE7}"/>
              </a:ext>
            </a:extLst>
          </p:cNvPr>
          <p:cNvSpPr>
            <a:spLocks noGrp="1"/>
          </p:cNvSpPr>
          <p:nvPr/>
        </p:nvSpPr>
        <p:spPr>
          <a:xfrm>
            <a:off x="6743700" y="3124200"/>
            <a:ext cx="4457700" cy="1962150"/>
          </a:xfrm>
          <a:prstGeom prst="roundRect">
            <a:avLst>
              <a:gd name="adj" fmla="val 3883"/>
            </a:avLst>
          </a:prstGeom>
          <a:solidFill>
            <a:srgbClr val="F0C86B">
              <a:alpha val="10000"/>
            </a:srgbClr>
          </a:solidFill>
          <a:ln w="9525">
            <a:solidFill>
              <a:srgbClr val="F0C8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AB57488D-8B2C-48B7-9DEF-2BF5D5B04001}"/>
              </a:ext>
            </a:extLst>
          </p:cNvPr>
          <p:cNvSpPr>
            <a:spLocks noGrp="1"/>
          </p:cNvSpPr>
          <p:nvPr/>
        </p:nvSpPr>
        <p:spPr>
          <a:xfrm>
            <a:off x="7048500" y="3429000"/>
            <a:ext cx="3619500" cy="3238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950" b="1">
                <a:solidFill>
                  <a:srgbClr val="F0C86B"/>
                </a:solidFill>
              </a:defRPr>
            </a:pPr>
            <a:r>
              <a:rPr sz="1950" b="1">
                <a:solidFill>
                  <a:srgbClr val="F0C86B"/>
                </a:solidFill>
              </a:rPr>
              <a:t>Core bottleneck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4F4B1049-1038-405C-AA05-B93BB5762B1F}"/>
              </a:ext>
            </a:extLst>
          </p:cNvPr>
          <p:cNvSpPr>
            <a:spLocks noGrp="1"/>
          </p:cNvSpPr>
          <p:nvPr/>
        </p:nvSpPr>
        <p:spPr>
          <a:xfrm>
            <a:off x="7048500" y="4000500"/>
            <a:ext cx="3543300" cy="7810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EEF8F2"/>
                </a:solidFill>
              </a:defRPr>
            </a:pPr>
            <a:r>
              <a:rPr sz="1650" b="0">
                <a:solidFill>
                  <a:srgbClr val="EEF8F2"/>
                </a:solidFill>
              </a:rPr>
              <a:t>The original metadata and platform context disappear during screenshot, crop, compression, and reposting.</a:t>
            </a:r>
          </a:p>
        </p:txBody>
      </p:sp>
    </p:spTree>
    <p:extLst>
      <p:ext uri="{BB962C8B-B14F-4D97-AF65-F5344CB8AC3E}">
        <p14:creationId xmlns:p14="http://schemas.microsoft.com/office/powerpoint/2010/main" val="24669459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80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矩形 44">
            <a:extLst>
              <a:ext uri="{FF2B5EF4-FFF2-40B4-BE49-F238E27FC236}">
                <a16:creationId xmlns:a16="http://schemas.microsoft.com/office/drawing/2014/main" id="{91797719-C139-4EA6-8CAC-BC88DEB7B61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807"/>
          </a:solidFill>
          <a:ln w="0">
            <a:solidFill>
              <a:srgbClr val="05080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12530167-A30D-4077-884C-2E9EB300929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3C07B2E0-55F4-480A-A878-43F1E7B3B978}"/>
              </a:ext>
            </a:extLst>
          </p:cNvPr>
          <p:cNvSpPr>
            <a:spLocks noGrp="1"/>
          </p:cNvSpPr>
          <p:nvPr/>
        </p:nvSpPr>
        <p:spPr>
          <a:xfrm>
            <a:off x="762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C954C507-2970-4CE9-8890-2A309B1C4D6C}"/>
              </a:ext>
            </a:extLst>
          </p:cNvPr>
          <p:cNvSpPr>
            <a:spLocks noGrp="1"/>
          </p:cNvSpPr>
          <p:nvPr/>
        </p:nvSpPr>
        <p:spPr>
          <a:xfrm>
            <a:off x="1524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A41BFAB0-10FB-4B23-A437-A3C3A42DF8C4}"/>
              </a:ext>
            </a:extLst>
          </p:cNvPr>
          <p:cNvSpPr>
            <a:spLocks noGrp="1"/>
          </p:cNvSpPr>
          <p:nvPr/>
        </p:nvSpPr>
        <p:spPr>
          <a:xfrm>
            <a:off x="2286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1C4D31A5-EE43-4772-965D-16C056A0C09D}"/>
              </a:ext>
            </a:extLst>
          </p:cNvPr>
          <p:cNvSpPr>
            <a:spLocks noGrp="1"/>
          </p:cNvSpPr>
          <p:nvPr/>
        </p:nvSpPr>
        <p:spPr>
          <a:xfrm>
            <a:off x="3048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F2AC1B8-A262-4EC8-B03E-25A96076AE8C}"/>
              </a:ext>
            </a:extLst>
          </p:cNvPr>
          <p:cNvSpPr>
            <a:spLocks noGrp="1"/>
          </p:cNvSpPr>
          <p:nvPr/>
        </p:nvSpPr>
        <p:spPr>
          <a:xfrm>
            <a:off x="3810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793F732D-D912-4487-9DDC-DF69112E0133}"/>
              </a:ext>
            </a:extLst>
          </p:cNvPr>
          <p:cNvSpPr>
            <a:spLocks noGrp="1"/>
          </p:cNvSpPr>
          <p:nvPr/>
        </p:nvSpPr>
        <p:spPr>
          <a:xfrm>
            <a:off x="4572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1C4F924-3FEB-4F08-AFDF-7F9C9194CA35}"/>
              </a:ext>
            </a:extLst>
          </p:cNvPr>
          <p:cNvSpPr>
            <a:spLocks noGrp="1"/>
          </p:cNvSpPr>
          <p:nvPr/>
        </p:nvSpPr>
        <p:spPr>
          <a:xfrm>
            <a:off x="5334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DA0A3ED6-DBD4-4CA5-82EC-C0A5C0D67817}"/>
              </a:ext>
            </a:extLst>
          </p:cNvPr>
          <p:cNvSpPr>
            <a:spLocks noGrp="1"/>
          </p:cNvSpPr>
          <p:nvPr/>
        </p:nvSpPr>
        <p:spPr>
          <a:xfrm>
            <a:off x="6096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423D488-5ECE-4BC0-BA7D-1C36FD892DB5}"/>
              </a:ext>
            </a:extLst>
          </p:cNvPr>
          <p:cNvSpPr>
            <a:spLocks noGrp="1"/>
          </p:cNvSpPr>
          <p:nvPr/>
        </p:nvSpPr>
        <p:spPr>
          <a:xfrm>
            <a:off x="6858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ACCB662B-F834-419B-8048-536DFCE8F3D2}"/>
              </a:ext>
            </a:extLst>
          </p:cNvPr>
          <p:cNvSpPr>
            <a:spLocks noGrp="1"/>
          </p:cNvSpPr>
          <p:nvPr/>
        </p:nvSpPr>
        <p:spPr>
          <a:xfrm>
            <a:off x="7620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9F771C75-C651-4B89-A4E1-323C9462EFD8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E9CDA385-E652-44D6-8E1F-8D16DCA34D18}"/>
              </a:ext>
            </a:extLst>
          </p:cNvPr>
          <p:cNvSpPr>
            <a:spLocks noGrp="1"/>
          </p:cNvSpPr>
          <p:nvPr/>
        </p:nvSpPr>
        <p:spPr>
          <a:xfrm>
            <a:off x="9144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053C9963-D9BF-4F0A-B2AD-864E522A8248}"/>
              </a:ext>
            </a:extLst>
          </p:cNvPr>
          <p:cNvSpPr>
            <a:spLocks noGrp="1"/>
          </p:cNvSpPr>
          <p:nvPr/>
        </p:nvSpPr>
        <p:spPr>
          <a:xfrm>
            <a:off x="9906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4D04F63-7AB3-4858-A1B9-5C4F5972F1A9}"/>
              </a:ext>
            </a:extLst>
          </p:cNvPr>
          <p:cNvSpPr>
            <a:spLocks noGrp="1"/>
          </p:cNvSpPr>
          <p:nvPr/>
        </p:nvSpPr>
        <p:spPr>
          <a:xfrm>
            <a:off x="10668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013446B0-F99E-40F0-AE52-C2DC4D7AC2DE}"/>
              </a:ext>
            </a:extLst>
          </p:cNvPr>
          <p:cNvSpPr>
            <a:spLocks noGrp="1"/>
          </p:cNvSpPr>
          <p:nvPr/>
        </p:nvSpPr>
        <p:spPr>
          <a:xfrm>
            <a:off x="11430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57B9380F-7CA9-4196-A12F-FCB4531901AE}"/>
              </a:ext>
            </a:extLst>
          </p:cNvPr>
          <p:cNvSpPr>
            <a:spLocks noGrp="1"/>
          </p:cNvSpPr>
          <p:nvPr/>
        </p:nvSpPr>
        <p:spPr>
          <a:xfrm>
            <a:off x="12192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EC2CED8-B81D-48D4-9EEB-F15D6B6DDBB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1A2FB8B-8FD5-4811-A1C2-CEBC78467EDA}"/>
              </a:ext>
            </a:extLst>
          </p:cNvPr>
          <p:cNvSpPr>
            <a:spLocks noGrp="1"/>
          </p:cNvSpPr>
          <p:nvPr/>
        </p:nvSpPr>
        <p:spPr>
          <a:xfrm>
            <a:off x="0" y="762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E915D363-EA95-4164-8013-731AB50B88E9}"/>
              </a:ext>
            </a:extLst>
          </p:cNvPr>
          <p:cNvSpPr>
            <a:spLocks noGrp="1"/>
          </p:cNvSpPr>
          <p:nvPr/>
        </p:nvSpPr>
        <p:spPr>
          <a:xfrm>
            <a:off x="0" y="1524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2E79ACBC-7EFA-4C1B-9EA2-5BBDCC794AEE}"/>
              </a:ext>
            </a:extLst>
          </p:cNvPr>
          <p:cNvSpPr>
            <a:spLocks noGrp="1"/>
          </p:cNvSpPr>
          <p:nvPr/>
        </p:nvSpPr>
        <p:spPr>
          <a:xfrm>
            <a:off x="0" y="2286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3A2B2BB6-4701-449F-90DF-A60A329577E3}"/>
              </a:ext>
            </a:extLst>
          </p:cNvPr>
          <p:cNvSpPr>
            <a:spLocks noGrp="1"/>
          </p:cNvSpPr>
          <p:nvPr/>
        </p:nvSpPr>
        <p:spPr>
          <a:xfrm>
            <a:off x="0" y="3048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2C2FE815-FB7B-44B8-8871-5C4B6DF4E427}"/>
              </a:ext>
            </a:extLst>
          </p:cNvPr>
          <p:cNvSpPr>
            <a:spLocks noGrp="1"/>
          </p:cNvSpPr>
          <p:nvPr/>
        </p:nvSpPr>
        <p:spPr>
          <a:xfrm>
            <a:off x="0" y="3810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93496F6F-7D96-465B-BAD3-0B6E73886677}"/>
              </a:ext>
            </a:extLst>
          </p:cNvPr>
          <p:cNvSpPr>
            <a:spLocks noGrp="1"/>
          </p:cNvSpPr>
          <p:nvPr/>
        </p:nvSpPr>
        <p:spPr>
          <a:xfrm>
            <a:off x="0" y="4572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7167D1CE-F2B1-4E4B-913F-95FB6B28285B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317329DF-3132-46EE-BBE6-1E337BFBDE07}"/>
              </a:ext>
            </a:extLst>
          </p:cNvPr>
          <p:cNvSpPr>
            <a:spLocks noGrp="1"/>
          </p:cNvSpPr>
          <p:nvPr/>
        </p:nvSpPr>
        <p:spPr>
          <a:xfrm>
            <a:off x="0" y="6096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8F728746-5877-49FF-AF2F-5E4F2D4E5A0E}"/>
              </a:ext>
            </a:extLst>
          </p:cNvPr>
          <p:cNvSpPr>
            <a:spLocks noGrp="1"/>
          </p:cNvSpPr>
          <p:nvPr/>
        </p:nvSpPr>
        <p:spPr>
          <a:xfrm>
            <a:off x="0" y="6858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F821818-3180-41E9-A204-730CE5A6B1B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A3FF7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814A8A87-2896-42F0-8AD4-05110E1EDEBD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95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EEF8F2"/>
                </a:solidFill>
              </a:defRPr>
            </a:pPr>
            <a:r>
              <a:rPr sz="1125" b="1">
                <a:solidFill>
                  <a:srgbClr val="EEF8F2"/>
                </a:solidFill>
              </a:rPr>
              <a:t>Current Alternative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D926890A-69C0-40E9-8DC6-D778B1603EF6}"/>
              </a:ext>
            </a:extLst>
          </p:cNvPr>
          <p:cNvSpPr>
            <a:spLocks noGrp="1"/>
          </p:cNvSpPr>
          <p:nvPr/>
        </p:nvSpPr>
        <p:spPr>
          <a:xfrm>
            <a:off x="11049000" y="266700"/>
            <a:ext cx="533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1">
                <a:solidFill>
                  <a:srgbClr val="A6B8AF"/>
                </a:solidFill>
              </a:defRPr>
            </a:pPr>
            <a:r>
              <a:rPr sz="1050" b="1">
                <a:solidFill>
                  <a:srgbClr val="A6B8AF"/>
                </a:solidFill>
              </a:rPr>
              <a:t>04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7BA4BBA3-4396-4FAB-994A-D0BA3E3EBEF6}"/>
              </a:ext>
            </a:extLst>
          </p:cNvPr>
          <p:cNvSpPr>
            <a:spLocks noGrp="1"/>
          </p:cNvSpPr>
          <p:nvPr/>
        </p:nvSpPr>
        <p:spPr>
          <a:xfrm>
            <a:off x="685800" y="914400"/>
            <a:ext cx="89535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300" b="1">
                <a:solidFill>
                  <a:srgbClr val="EEF8F2"/>
                </a:solidFill>
              </a:defRPr>
            </a:pPr>
            <a:r>
              <a:rPr sz="3300" b="1">
                <a:solidFill>
                  <a:srgbClr val="EEF8F2"/>
                </a:solidFill>
              </a:rPr>
              <a:t>What users do today does not solve the bottleneck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C88B3F59-1713-434F-81D3-E871175752C3}"/>
              </a:ext>
            </a:extLst>
          </p:cNvPr>
          <p:cNvSpPr>
            <a:spLocks noGrp="1"/>
          </p:cNvSpPr>
          <p:nvPr/>
        </p:nvSpPr>
        <p:spPr>
          <a:xfrm>
            <a:off x="723900" y="2095500"/>
            <a:ext cx="7429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A6B8AF"/>
                </a:solidFill>
              </a:defRPr>
            </a:pPr>
            <a:r>
              <a:rPr sz="1650" b="0">
                <a:solidFill>
                  <a:srgbClr val="A6B8AF"/>
                </a:solidFill>
              </a:rPr>
              <a:t>Current checks are manual, slow, and often impossible after metadata loss.</a:t>
            </a:r>
          </a:p>
        </p:txBody>
      </p:sp>
      <p:sp>
        <p:nvSpPr>
          <p:cNvPr id="34" name="橢圓 33">
            <a:extLst>
              <a:ext uri="{FF2B5EF4-FFF2-40B4-BE49-F238E27FC236}">
                <a16:creationId xmlns:a16="http://schemas.microsoft.com/office/drawing/2014/main" id="{2099C063-2C7F-4B6C-BFAD-742E717027DE}"/>
              </a:ext>
            </a:extLst>
          </p:cNvPr>
          <p:cNvSpPr>
            <a:spLocks noGrp="1"/>
          </p:cNvSpPr>
          <p:nvPr/>
        </p:nvSpPr>
        <p:spPr>
          <a:xfrm>
            <a:off x="876300" y="3105150"/>
            <a:ext cx="114300" cy="114300"/>
          </a:xfrm>
          <a:prstGeom prst="ellipse">
            <a:avLst/>
          </a:prstGeom>
          <a:solidFill>
            <a:srgbClr val="A3FF7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D40BE1D9-D03B-4BE0-89D3-8B6A1A526E71}"/>
              </a:ext>
            </a:extLst>
          </p:cNvPr>
          <p:cNvSpPr>
            <a:spLocks noGrp="1"/>
          </p:cNvSpPr>
          <p:nvPr/>
        </p:nvSpPr>
        <p:spPr>
          <a:xfrm>
            <a:off x="1181100" y="2990850"/>
            <a:ext cx="7810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EEF8F2"/>
                </a:solidFill>
              </a:defRPr>
            </a:pPr>
            <a:r>
              <a:rPr sz="1650" b="0">
                <a:solidFill>
                  <a:srgbClr val="EEF8F2"/>
                </a:solidFill>
              </a:rPr>
              <a:t>Reverse image search misses private or newly created event content.</a:t>
            </a:r>
          </a:p>
        </p:txBody>
      </p:sp>
      <p:sp>
        <p:nvSpPr>
          <p:cNvPr id="36" name="橢圓 35">
            <a:extLst>
              <a:ext uri="{FF2B5EF4-FFF2-40B4-BE49-F238E27FC236}">
                <a16:creationId xmlns:a16="http://schemas.microsoft.com/office/drawing/2014/main" id="{8A2C6109-B872-4B70-9AC7-2C2563EA9553}"/>
              </a:ext>
            </a:extLst>
          </p:cNvPr>
          <p:cNvSpPr>
            <a:spLocks noGrp="1"/>
          </p:cNvSpPr>
          <p:nvPr/>
        </p:nvSpPr>
        <p:spPr>
          <a:xfrm>
            <a:off x="876300" y="3638550"/>
            <a:ext cx="114300" cy="114300"/>
          </a:xfrm>
          <a:prstGeom prst="ellipse">
            <a:avLst/>
          </a:prstGeom>
          <a:solidFill>
            <a:srgbClr val="6EE7D8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FA7351B2-E224-44E0-BDDB-1E93BCF7BCEF}"/>
              </a:ext>
            </a:extLst>
          </p:cNvPr>
          <p:cNvSpPr>
            <a:spLocks noGrp="1"/>
          </p:cNvSpPr>
          <p:nvPr/>
        </p:nvSpPr>
        <p:spPr>
          <a:xfrm>
            <a:off x="1181100" y="3524250"/>
            <a:ext cx="7810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EEF8F2"/>
                </a:solidFill>
              </a:defRPr>
            </a:pPr>
            <a:r>
              <a:rPr sz="1650" b="0">
                <a:solidFill>
                  <a:srgbClr val="EEF8F2"/>
                </a:solidFill>
              </a:rPr>
              <a:t>Asking the sender depends on trust in the same broken chain.</a:t>
            </a:r>
          </a:p>
        </p:txBody>
      </p:sp>
      <p:sp>
        <p:nvSpPr>
          <p:cNvPr id="38" name="橢圓 37">
            <a:extLst>
              <a:ext uri="{FF2B5EF4-FFF2-40B4-BE49-F238E27FC236}">
                <a16:creationId xmlns:a16="http://schemas.microsoft.com/office/drawing/2014/main" id="{B045798D-FC27-444F-A2D1-7ABD4273CD5C}"/>
              </a:ext>
            </a:extLst>
          </p:cNvPr>
          <p:cNvSpPr>
            <a:spLocks noGrp="1"/>
          </p:cNvSpPr>
          <p:nvPr/>
        </p:nvSpPr>
        <p:spPr>
          <a:xfrm>
            <a:off x="876300" y="4171950"/>
            <a:ext cx="114300" cy="114300"/>
          </a:xfrm>
          <a:prstGeom prst="ellipse">
            <a:avLst/>
          </a:prstGeom>
          <a:solidFill>
            <a:srgbClr val="6EE7D8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8457C0C4-1D11-40F2-B9D8-A6C4B1C8968F}"/>
              </a:ext>
            </a:extLst>
          </p:cNvPr>
          <p:cNvSpPr>
            <a:spLocks noGrp="1"/>
          </p:cNvSpPr>
          <p:nvPr/>
        </p:nvSpPr>
        <p:spPr>
          <a:xfrm>
            <a:off x="1181100" y="4057650"/>
            <a:ext cx="7810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EEF8F2"/>
                </a:solidFill>
              </a:defRPr>
            </a:pPr>
            <a:r>
              <a:rPr sz="1650" b="0">
                <a:solidFill>
                  <a:srgbClr val="EEF8F2"/>
                </a:solidFill>
              </a:rPr>
              <a:t>AI detectors may flag style, but not recover accountability.</a:t>
            </a:r>
          </a:p>
        </p:txBody>
      </p:sp>
      <p:sp>
        <p:nvSpPr>
          <p:cNvPr id="40" name="橢圓 39">
            <a:extLst>
              <a:ext uri="{FF2B5EF4-FFF2-40B4-BE49-F238E27FC236}">
                <a16:creationId xmlns:a16="http://schemas.microsoft.com/office/drawing/2014/main" id="{3C56ADCC-0727-4AF3-AEA0-29020D99D67B}"/>
              </a:ext>
            </a:extLst>
          </p:cNvPr>
          <p:cNvSpPr>
            <a:spLocks noGrp="1"/>
          </p:cNvSpPr>
          <p:nvPr/>
        </p:nvSpPr>
        <p:spPr>
          <a:xfrm>
            <a:off x="876300" y="4705350"/>
            <a:ext cx="114300" cy="114300"/>
          </a:xfrm>
          <a:prstGeom prst="ellipse">
            <a:avLst/>
          </a:prstGeom>
          <a:solidFill>
            <a:srgbClr val="6EE7D8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402F3275-EDE3-4EF6-A514-1E0C27DF7A28}"/>
              </a:ext>
            </a:extLst>
          </p:cNvPr>
          <p:cNvSpPr>
            <a:spLocks noGrp="1"/>
          </p:cNvSpPr>
          <p:nvPr/>
        </p:nvSpPr>
        <p:spPr>
          <a:xfrm>
            <a:off x="1181100" y="4591050"/>
            <a:ext cx="78105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EEF8F2"/>
                </a:solidFill>
              </a:defRPr>
            </a:pPr>
            <a:r>
              <a:rPr sz="1650" b="0">
                <a:solidFill>
                  <a:srgbClr val="EEF8F2"/>
                </a:solidFill>
              </a:rPr>
              <a:t>Metadata viewers fail when screenshots strip metadata.</a:t>
            </a:r>
          </a:p>
        </p:txBody>
      </p:sp>
      <p:sp>
        <p:nvSpPr>
          <p:cNvPr id="42" name="矩形: 圓角 41">
            <a:extLst>
              <a:ext uri="{FF2B5EF4-FFF2-40B4-BE49-F238E27FC236}">
                <a16:creationId xmlns:a16="http://schemas.microsoft.com/office/drawing/2014/main" id="{EEA134DC-76A6-46CA-9D05-220AEBA2C0E6}"/>
              </a:ext>
            </a:extLst>
          </p:cNvPr>
          <p:cNvSpPr>
            <a:spLocks noGrp="1"/>
          </p:cNvSpPr>
          <p:nvPr/>
        </p:nvSpPr>
        <p:spPr>
          <a:xfrm>
            <a:off x="9144000" y="3143250"/>
            <a:ext cx="2095500" cy="1790700"/>
          </a:xfrm>
          <a:prstGeom prst="roundRect">
            <a:avLst>
              <a:gd name="adj" fmla="val 4255"/>
            </a:avLst>
          </a:prstGeom>
          <a:solidFill>
            <a:srgbClr val="FF6B5F">
              <a:alpha val="9000"/>
            </a:srgbClr>
          </a:solidFill>
          <a:ln w="9525">
            <a:solidFill>
              <a:srgbClr val="FF6B5F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9B816CDC-0169-45E3-ACED-D5D4181B53A7}"/>
              </a:ext>
            </a:extLst>
          </p:cNvPr>
          <p:cNvSpPr>
            <a:spLocks noGrp="1"/>
          </p:cNvSpPr>
          <p:nvPr/>
        </p:nvSpPr>
        <p:spPr>
          <a:xfrm>
            <a:off x="9486900" y="3562350"/>
            <a:ext cx="142875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FF6B5F"/>
                </a:solidFill>
              </a:defRPr>
            </a:pPr>
            <a:r>
              <a:rPr sz="1800" b="1">
                <a:solidFill>
                  <a:srgbClr val="FF6B5F"/>
                </a:solidFill>
              </a:rPr>
              <a:t>Net result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FA5B7041-198C-4E91-98C2-B7E8F4FBA2AE}"/>
              </a:ext>
            </a:extLst>
          </p:cNvPr>
          <p:cNvSpPr>
            <a:spLocks noGrp="1"/>
          </p:cNvSpPr>
          <p:nvPr/>
        </p:nvSpPr>
        <p:spPr>
          <a:xfrm>
            <a:off x="9505950" y="4095750"/>
            <a:ext cx="1390650" cy="5524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75" b="0">
                <a:solidFill>
                  <a:srgbClr val="EEF8F2"/>
                </a:solidFill>
              </a:defRPr>
            </a:pPr>
            <a:r>
              <a:rPr sz="1275" b="0">
                <a:solidFill>
                  <a:srgbClr val="EEF8F2"/>
                </a:solidFill>
              </a:rPr>
              <a:t>No accountable source recovered.</a:t>
            </a:r>
          </a:p>
        </p:txBody>
      </p:sp>
    </p:spTree>
    <p:extLst>
      <p:ext uri="{BB962C8B-B14F-4D97-AF65-F5344CB8AC3E}">
        <p14:creationId xmlns:p14="http://schemas.microsoft.com/office/powerpoint/2010/main" val="82987914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80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矩形 42">
            <a:extLst>
              <a:ext uri="{FF2B5EF4-FFF2-40B4-BE49-F238E27FC236}">
                <a16:creationId xmlns:a16="http://schemas.microsoft.com/office/drawing/2014/main" id="{6F3045D4-73EE-404A-8FE2-D17EFD1BD4D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807"/>
          </a:solidFill>
          <a:ln w="0">
            <a:solidFill>
              <a:srgbClr val="05080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E6094A16-6F98-4518-8FF9-73570F79C6A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9A9A296-F00A-4957-957C-B62E1A100820}"/>
              </a:ext>
            </a:extLst>
          </p:cNvPr>
          <p:cNvSpPr>
            <a:spLocks noGrp="1"/>
          </p:cNvSpPr>
          <p:nvPr/>
        </p:nvSpPr>
        <p:spPr>
          <a:xfrm>
            <a:off x="762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F4CE8DA-ECDA-48EC-94E0-D303504B5A4C}"/>
              </a:ext>
            </a:extLst>
          </p:cNvPr>
          <p:cNvSpPr>
            <a:spLocks noGrp="1"/>
          </p:cNvSpPr>
          <p:nvPr/>
        </p:nvSpPr>
        <p:spPr>
          <a:xfrm>
            <a:off x="1524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95AC7C0-D567-4906-80B6-C661EE87C4D8}"/>
              </a:ext>
            </a:extLst>
          </p:cNvPr>
          <p:cNvSpPr>
            <a:spLocks noGrp="1"/>
          </p:cNvSpPr>
          <p:nvPr/>
        </p:nvSpPr>
        <p:spPr>
          <a:xfrm>
            <a:off x="2286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AFC0268D-86F8-4EF5-B565-985476BF4C25}"/>
              </a:ext>
            </a:extLst>
          </p:cNvPr>
          <p:cNvSpPr>
            <a:spLocks noGrp="1"/>
          </p:cNvSpPr>
          <p:nvPr/>
        </p:nvSpPr>
        <p:spPr>
          <a:xfrm>
            <a:off x="3048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1E658141-F2A4-48BC-AB54-017FD315D8CF}"/>
              </a:ext>
            </a:extLst>
          </p:cNvPr>
          <p:cNvSpPr>
            <a:spLocks noGrp="1"/>
          </p:cNvSpPr>
          <p:nvPr/>
        </p:nvSpPr>
        <p:spPr>
          <a:xfrm>
            <a:off x="3810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5658B06-B52F-4790-A6CF-D88FF347AB01}"/>
              </a:ext>
            </a:extLst>
          </p:cNvPr>
          <p:cNvSpPr>
            <a:spLocks noGrp="1"/>
          </p:cNvSpPr>
          <p:nvPr/>
        </p:nvSpPr>
        <p:spPr>
          <a:xfrm>
            <a:off x="4572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D4AC7744-3969-4F63-894E-6E433A861236}"/>
              </a:ext>
            </a:extLst>
          </p:cNvPr>
          <p:cNvSpPr>
            <a:spLocks noGrp="1"/>
          </p:cNvSpPr>
          <p:nvPr/>
        </p:nvSpPr>
        <p:spPr>
          <a:xfrm>
            <a:off x="5334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B16AF933-29C6-4AA9-9C86-C5EF1FE60429}"/>
              </a:ext>
            </a:extLst>
          </p:cNvPr>
          <p:cNvSpPr>
            <a:spLocks noGrp="1"/>
          </p:cNvSpPr>
          <p:nvPr/>
        </p:nvSpPr>
        <p:spPr>
          <a:xfrm>
            <a:off x="6096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607F2761-168E-4EB0-907C-ADD42ACE6E87}"/>
              </a:ext>
            </a:extLst>
          </p:cNvPr>
          <p:cNvSpPr>
            <a:spLocks noGrp="1"/>
          </p:cNvSpPr>
          <p:nvPr/>
        </p:nvSpPr>
        <p:spPr>
          <a:xfrm>
            <a:off x="6858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EBD9523-7D53-4941-881A-A71C28204467}"/>
              </a:ext>
            </a:extLst>
          </p:cNvPr>
          <p:cNvSpPr>
            <a:spLocks noGrp="1"/>
          </p:cNvSpPr>
          <p:nvPr/>
        </p:nvSpPr>
        <p:spPr>
          <a:xfrm>
            <a:off x="7620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1D37C607-519E-4CF5-B7A8-8A0E7D858F08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0907BAAF-9EB6-46E6-B4C9-B0084AF21D89}"/>
              </a:ext>
            </a:extLst>
          </p:cNvPr>
          <p:cNvSpPr>
            <a:spLocks noGrp="1"/>
          </p:cNvSpPr>
          <p:nvPr/>
        </p:nvSpPr>
        <p:spPr>
          <a:xfrm>
            <a:off x="9144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541B5E36-1EC3-47D1-8EA3-93C2CD792201}"/>
              </a:ext>
            </a:extLst>
          </p:cNvPr>
          <p:cNvSpPr>
            <a:spLocks noGrp="1"/>
          </p:cNvSpPr>
          <p:nvPr/>
        </p:nvSpPr>
        <p:spPr>
          <a:xfrm>
            <a:off x="9906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79EDCAD0-B141-4883-93D6-97A10636EF70}"/>
              </a:ext>
            </a:extLst>
          </p:cNvPr>
          <p:cNvSpPr>
            <a:spLocks noGrp="1"/>
          </p:cNvSpPr>
          <p:nvPr/>
        </p:nvSpPr>
        <p:spPr>
          <a:xfrm>
            <a:off x="10668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957D3369-3909-4D37-AA97-BF3A1F68C19D}"/>
              </a:ext>
            </a:extLst>
          </p:cNvPr>
          <p:cNvSpPr>
            <a:spLocks noGrp="1"/>
          </p:cNvSpPr>
          <p:nvPr/>
        </p:nvSpPr>
        <p:spPr>
          <a:xfrm>
            <a:off x="11430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D92035F-6099-4F44-8615-1BD6E39FD8DC}"/>
              </a:ext>
            </a:extLst>
          </p:cNvPr>
          <p:cNvSpPr>
            <a:spLocks noGrp="1"/>
          </p:cNvSpPr>
          <p:nvPr/>
        </p:nvSpPr>
        <p:spPr>
          <a:xfrm>
            <a:off x="12192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1A0CEC4E-D458-4541-AD8B-D3F9B9BF1211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1CABB36F-8AD2-4973-8BF9-7DDA2F8D399B}"/>
              </a:ext>
            </a:extLst>
          </p:cNvPr>
          <p:cNvSpPr>
            <a:spLocks noGrp="1"/>
          </p:cNvSpPr>
          <p:nvPr/>
        </p:nvSpPr>
        <p:spPr>
          <a:xfrm>
            <a:off x="0" y="762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87B1AE88-C089-4CCA-B682-A14C6B639722}"/>
              </a:ext>
            </a:extLst>
          </p:cNvPr>
          <p:cNvSpPr>
            <a:spLocks noGrp="1"/>
          </p:cNvSpPr>
          <p:nvPr/>
        </p:nvSpPr>
        <p:spPr>
          <a:xfrm>
            <a:off x="0" y="1524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9CAE0DEA-C748-4729-B313-265EF2AF83A9}"/>
              </a:ext>
            </a:extLst>
          </p:cNvPr>
          <p:cNvSpPr>
            <a:spLocks noGrp="1"/>
          </p:cNvSpPr>
          <p:nvPr/>
        </p:nvSpPr>
        <p:spPr>
          <a:xfrm>
            <a:off x="0" y="2286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B7612F1E-DB80-4FF6-A457-03435692D860}"/>
              </a:ext>
            </a:extLst>
          </p:cNvPr>
          <p:cNvSpPr>
            <a:spLocks noGrp="1"/>
          </p:cNvSpPr>
          <p:nvPr/>
        </p:nvSpPr>
        <p:spPr>
          <a:xfrm>
            <a:off x="0" y="3048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0F0BC04-43C5-4680-8959-6819FA1F2C57}"/>
              </a:ext>
            </a:extLst>
          </p:cNvPr>
          <p:cNvSpPr>
            <a:spLocks noGrp="1"/>
          </p:cNvSpPr>
          <p:nvPr/>
        </p:nvSpPr>
        <p:spPr>
          <a:xfrm>
            <a:off x="0" y="3810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AF3424A9-E195-46C3-BAFD-BB922713DD3D}"/>
              </a:ext>
            </a:extLst>
          </p:cNvPr>
          <p:cNvSpPr>
            <a:spLocks noGrp="1"/>
          </p:cNvSpPr>
          <p:nvPr/>
        </p:nvSpPr>
        <p:spPr>
          <a:xfrm>
            <a:off x="0" y="4572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B5D166A4-3293-4AAF-99E0-AA578F5E3E37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A02982E4-83E3-47C5-B692-C50FF0845056}"/>
              </a:ext>
            </a:extLst>
          </p:cNvPr>
          <p:cNvSpPr>
            <a:spLocks noGrp="1"/>
          </p:cNvSpPr>
          <p:nvPr/>
        </p:nvSpPr>
        <p:spPr>
          <a:xfrm>
            <a:off x="0" y="6096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18E6E94B-266E-4249-9938-A434A927A2AA}"/>
              </a:ext>
            </a:extLst>
          </p:cNvPr>
          <p:cNvSpPr>
            <a:spLocks noGrp="1"/>
          </p:cNvSpPr>
          <p:nvPr/>
        </p:nvSpPr>
        <p:spPr>
          <a:xfrm>
            <a:off x="0" y="6858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E4571060-F537-420A-8724-431E3061589C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A3FF7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04B7F994-39E8-4E17-BD08-8D23671C5397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95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EEF8F2"/>
                </a:solidFill>
              </a:defRPr>
            </a:pPr>
            <a:r>
              <a:rPr sz="1125" b="1">
                <a:solidFill>
                  <a:srgbClr val="EEF8F2"/>
                </a:solidFill>
              </a:rPr>
              <a:t>Solution &amp; Value Proposition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B8201867-649E-4465-93F2-A4304ABC224B}"/>
              </a:ext>
            </a:extLst>
          </p:cNvPr>
          <p:cNvSpPr>
            <a:spLocks noGrp="1"/>
          </p:cNvSpPr>
          <p:nvPr/>
        </p:nvSpPr>
        <p:spPr>
          <a:xfrm>
            <a:off x="11049000" y="266700"/>
            <a:ext cx="533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1">
                <a:solidFill>
                  <a:srgbClr val="A6B8AF"/>
                </a:solidFill>
              </a:defRPr>
            </a:pPr>
            <a:r>
              <a:rPr sz="1050" b="1">
                <a:solidFill>
                  <a:srgbClr val="A6B8AF"/>
                </a:solidFill>
              </a:rPr>
              <a:t>05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1AD1C71E-01A9-402E-B886-6CE182F8B07D}"/>
              </a:ext>
            </a:extLst>
          </p:cNvPr>
          <p:cNvSpPr>
            <a:spLocks noGrp="1"/>
          </p:cNvSpPr>
          <p:nvPr/>
        </p:nvSpPr>
        <p:spPr>
          <a:xfrm>
            <a:off x="685800" y="914400"/>
            <a:ext cx="89535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300" b="1">
                <a:solidFill>
                  <a:srgbClr val="EEF8F2"/>
                </a:solidFill>
              </a:defRPr>
            </a:pPr>
            <a:r>
              <a:rPr sz="3300" b="1">
                <a:solidFill>
                  <a:srgbClr val="EEF8F2"/>
                </a:solidFill>
              </a:rPr>
              <a:t>Seal the source before it spreads. Recover it after context breaks.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43AB45A2-1FDD-4D16-A468-B2E641ADDE09}"/>
              </a:ext>
            </a:extLst>
          </p:cNvPr>
          <p:cNvSpPr>
            <a:spLocks noGrp="1"/>
          </p:cNvSpPr>
          <p:nvPr/>
        </p:nvSpPr>
        <p:spPr>
          <a:xfrm>
            <a:off x="723900" y="2095500"/>
            <a:ext cx="7429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A6B8AF"/>
                </a:solidFill>
              </a:defRPr>
            </a:pPr>
            <a:r>
              <a:rPr sz="1650" b="0">
                <a:solidFill>
                  <a:srgbClr val="A6B8AF"/>
                </a:solidFill>
              </a:rPr>
              <a:t>One-line output: We help viewers recover accountable source evidence from damaged image copies.</a:t>
            </a:r>
          </a:p>
        </p:txBody>
      </p:sp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37E00F17-CB98-4E09-B24A-E8C76C5E02FA}"/>
              </a:ext>
            </a:extLst>
          </p:cNvPr>
          <p:cNvSpPr>
            <a:spLocks noGrp="1"/>
          </p:cNvSpPr>
          <p:nvPr/>
        </p:nvSpPr>
        <p:spPr>
          <a:xfrm>
            <a:off x="876300" y="3200400"/>
            <a:ext cx="3105150" cy="1524000"/>
          </a:xfrm>
          <a:prstGeom prst="roundRect">
            <a:avLst>
              <a:gd name="adj" fmla="val 5000"/>
            </a:avLst>
          </a:prstGeom>
          <a:solidFill>
            <a:srgbClr val="10261D">
              <a:alpha val="90000"/>
            </a:srgbClr>
          </a:solidFill>
          <a:ln w="9525">
            <a:solidFill>
              <a:srgbClr val="A3FF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14044391-4430-4598-812F-9F54681E914A}"/>
              </a:ext>
            </a:extLst>
          </p:cNvPr>
          <p:cNvSpPr>
            <a:spLocks noGrp="1"/>
          </p:cNvSpPr>
          <p:nvPr/>
        </p:nvSpPr>
        <p:spPr>
          <a:xfrm>
            <a:off x="1085850" y="3390900"/>
            <a:ext cx="2686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A3FF7A"/>
                </a:solidFill>
              </a:defRPr>
            </a:pPr>
            <a:r>
              <a:rPr sz="1575" b="1">
                <a:solidFill>
                  <a:srgbClr val="A3FF7A"/>
                </a:solidFill>
              </a:rPr>
              <a:t>What improves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A7A93A7B-F6B8-48B7-A49E-754C11F9BE14}"/>
              </a:ext>
            </a:extLst>
          </p:cNvPr>
          <p:cNvSpPr>
            <a:spLocks noGrp="1"/>
          </p:cNvSpPr>
          <p:nvPr/>
        </p:nvSpPr>
        <p:spPr>
          <a:xfrm>
            <a:off x="1085850" y="3848100"/>
            <a:ext cx="26860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EEF8F2"/>
                </a:solidFill>
              </a:defRPr>
            </a:pPr>
            <a:r>
              <a:rPr sz="1275" b="0">
                <a:solidFill>
                  <a:srgbClr val="EEF8F2"/>
                </a:solidFill>
              </a:rPr>
              <a:t>Viewers can move from uncertainty to a recovered proof page or a clear unknown state.</a:t>
            </a:r>
          </a:p>
        </p:txBody>
      </p:sp>
      <p:sp>
        <p:nvSpPr>
          <p:cNvPr id="37" name="矩形: 圓角 36">
            <a:extLst>
              <a:ext uri="{FF2B5EF4-FFF2-40B4-BE49-F238E27FC236}">
                <a16:creationId xmlns:a16="http://schemas.microsoft.com/office/drawing/2014/main" id="{205CAF8E-4BD9-4036-B3CC-AA9B684AF89B}"/>
              </a:ext>
            </a:extLst>
          </p:cNvPr>
          <p:cNvSpPr>
            <a:spLocks noGrp="1"/>
          </p:cNvSpPr>
          <p:nvPr/>
        </p:nvSpPr>
        <p:spPr>
          <a:xfrm>
            <a:off x="4533900" y="3200400"/>
            <a:ext cx="3105150" cy="1524000"/>
          </a:xfrm>
          <a:prstGeom prst="roundRect">
            <a:avLst>
              <a:gd name="adj" fmla="val 5000"/>
            </a:avLst>
          </a:prstGeom>
          <a:solidFill>
            <a:srgbClr val="10261D">
              <a:alpha val="90000"/>
            </a:srgbClr>
          </a:solidFill>
          <a:ln w="9525">
            <a:solidFill>
              <a:srgbClr val="6EE7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D720E7E7-71D6-45A1-A31A-0C1AC3998B62}"/>
              </a:ext>
            </a:extLst>
          </p:cNvPr>
          <p:cNvSpPr>
            <a:spLocks noGrp="1"/>
          </p:cNvSpPr>
          <p:nvPr/>
        </p:nvSpPr>
        <p:spPr>
          <a:xfrm>
            <a:off x="4743450" y="3390900"/>
            <a:ext cx="2686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6EE7D8"/>
                </a:solidFill>
              </a:defRPr>
            </a:pPr>
            <a:r>
              <a:rPr sz="1575" b="1">
                <a:solidFill>
                  <a:srgbClr val="6EE7D8"/>
                </a:solidFill>
              </a:rPr>
              <a:t>Why it fits A2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42E05DCF-2485-4B8A-A97D-722BD4124854}"/>
              </a:ext>
            </a:extLst>
          </p:cNvPr>
          <p:cNvSpPr>
            <a:spLocks noGrp="1"/>
          </p:cNvSpPr>
          <p:nvPr/>
        </p:nvSpPr>
        <p:spPr>
          <a:xfrm>
            <a:off x="4743450" y="3848100"/>
            <a:ext cx="26860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EEF8F2"/>
                </a:solidFill>
              </a:defRPr>
            </a:pPr>
            <a:r>
              <a:rPr sz="1275" b="0">
                <a:solidFill>
                  <a:srgbClr val="EEF8F2"/>
                </a:solidFill>
              </a:rPr>
              <a:t>Trust is tied to source recovery, human accountability, and synthetic-media context.</a:t>
            </a:r>
          </a:p>
        </p:txBody>
      </p:sp>
      <p:sp>
        <p:nvSpPr>
          <p:cNvPr id="40" name="矩形: 圓角 39">
            <a:extLst>
              <a:ext uri="{FF2B5EF4-FFF2-40B4-BE49-F238E27FC236}">
                <a16:creationId xmlns:a16="http://schemas.microsoft.com/office/drawing/2014/main" id="{C23D6C8E-8E24-4515-80DA-5CDBAE7CA338}"/>
              </a:ext>
            </a:extLst>
          </p:cNvPr>
          <p:cNvSpPr>
            <a:spLocks noGrp="1"/>
          </p:cNvSpPr>
          <p:nvPr/>
        </p:nvSpPr>
        <p:spPr>
          <a:xfrm>
            <a:off x="8191500" y="3200400"/>
            <a:ext cx="3105150" cy="1524000"/>
          </a:xfrm>
          <a:prstGeom prst="roundRect">
            <a:avLst>
              <a:gd name="adj" fmla="val 5000"/>
            </a:avLst>
          </a:prstGeom>
          <a:solidFill>
            <a:srgbClr val="10261D">
              <a:alpha val="90000"/>
            </a:srgbClr>
          </a:solidFill>
          <a:ln w="9525">
            <a:solidFill>
              <a:srgbClr val="F0C8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880CADDF-8CDA-4FD4-A262-54F4CDF5A7DF}"/>
              </a:ext>
            </a:extLst>
          </p:cNvPr>
          <p:cNvSpPr>
            <a:spLocks noGrp="1"/>
          </p:cNvSpPr>
          <p:nvPr/>
        </p:nvSpPr>
        <p:spPr>
          <a:xfrm>
            <a:off x="8401050" y="3390900"/>
            <a:ext cx="26860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F0C86B"/>
                </a:solidFill>
              </a:defRPr>
            </a:pPr>
            <a:r>
              <a:rPr sz="1575" b="1">
                <a:solidFill>
                  <a:srgbClr val="F0C86B"/>
                </a:solidFill>
              </a:rPr>
              <a:t>Why lightweight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53D1B3C9-9CA6-4226-8799-86383EA7D018}"/>
              </a:ext>
            </a:extLst>
          </p:cNvPr>
          <p:cNvSpPr>
            <a:spLocks noGrp="1"/>
          </p:cNvSpPr>
          <p:nvPr/>
        </p:nvSpPr>
        <p:spPr>
          <a:xfrm>
            <a:off x="8401050" y="3848100"/>
            <a:ext cx="26860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EEF8F2"/>
                </a:solidFill>
              </a:defRPr>
            </a:pPr>
            <a:r>
              <a:rPr sz="1275" b="0">
                <a:solidFill>
                  <a:srgbClr val="EEF8F2"/>
                </a:solidFill>
              </a:rPr>
              <a:t>The receipt uses hashes, visual fingerprints, and public proof context, not heavy enterprise setup.</a:t>
            </a:r>
          </a:p>
        </p:txBody>
      </p:sp>
    </p:spTree>
    <p:extLst>
      <p:ext uri="{BB962C8B-B14F-4D97-AF65-F5344CB8AC3E}">
        <p14:creationId xmlns:p14="http://schemas.microsoft.com/office/powerpoint/2010/main" val="105988403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80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矩形 33">
            <a:extLst>
              <a:ext uri="{FF2B5EF4-FFF2-40B4-BE49-F238E27FC236}">
                <a16:creationId xmlns:a16="http://schemas.microsoft.com/office/drawing/2014/main" id="{EB6B7E3C-E2AA-4A47-8779-EA851E812733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807"/>
          </a:solidFill>
          <a:ln w="0">
            <a:solidFill>
              <a:srgbClr val="05080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B950A33-9B91-433F-9F7B-E472A1F4902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1AA5E193-81A4-45B4-B7F8-759BE9AE3774}"/>
              </a:ext>
            </a:extLst>
          </p:cNvPr>
          <p:cNvSpPr>
            <a:spLocks noGrp="1"/>
          </p:cNvSpPr>
          <p:nvPr/>
        </p:nvSpPr>
        <p:spPr>
          <a:xfrm>
            <a:off x="762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F48DD0D5-F414-48D0-BCE1-2421BEB5BECB}"/>
              </a:ext>
            </a:extLst>
          </p:cNvPr>
          <p:cNvSpPr>
            <a:spLocks noGrp="1"/>
          </p:cNvSpPr>
          <p:nvPr/>
        </p:nvSpPr>
        <p:spPr>
          <a:xfrm>
            <a:off x="1524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C5FA0490-526F-4106-82F5-5F3A51BC3455}"/>
              </a:ext>
            </a:extLst>
          </p:cNvPr>
          <p:cNvSpPr>
            <a:spLocks noGrp="1"/>
          </p:cNvSpPr>
          <p:nvPr/>
        </p:nvSpPr>
        <p:spPr>
          <a:xfrm>
            <a:off x="2286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FBD9092-D1D4-4C8E-AED0-B624009E69AE}"/>
              </a:ext>
            </a:extLst>
          </p:cNvPr>
          <p:cNvSpPr>
            <a:spLocks noGrp="1"/>
          </p:cNvSpPr>
          <p:nvPr/>
        </p:nvSpPr>
        <p:spPr>
          <a:xfrm>
            <a:off x="3048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5FBE080-7918-4B2F-9FD9-A51C66F489CC}"/>
              </a:ext>
            </a:extLst>
          </p:cNvPr>
          <p:cNvSpPr>
            <a:spLocks noGrp="1"/>
          </p:cNvSpPr>
          <p:nvPr/>
        </p:nvSpPr>
        <p:spPr>
          <a:xfrm>
            <a:off x="3810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E9FE017-FB86-4ACF-9A1F-040B2AEF30BE}"/>
              </a:ext>
            </a:extLst>
          </p:cNvPr>
          <p:cNvSpPr>
            <a:spLocks noGrp="1"/>
          </p:cNvSpPr>
          <p:nvPr/>
        </p:nvSpPr>
        <p:spPr>
          <a:xfrm>
            <a:off x="4572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4A57A57-912C-4253-B041-0255BBB41111}"/>
              </a:ext>
            </a:extLst>
          </p:cNvPr>
          <p:cNvSpPr>
            <a:spLocks noGrp="1"/>
          </p:cNvSpPr>
          <p:nvPr/>
        </p:nvSpPr>
        <p:spPr>
          <a:xfrm>
            <a:off x="5334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085AF506-CDC5-4271-A837-3456EF305CD6}"/>
              </a:ext>
            </a:extLst>
          </p:cNvPr>
          <p:cNvSpPr>
            <a:spLocks noGrp="1"/>
          </p:cNvSpPr>
          <p:nvPr/>
        </p:nvSpPr>
        <p:spPr>
          <a:xfrm>
            <a:off x="6096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24AE718E-F027-44C6-BFB3-14B00066EA86}"/>
              </a:ext>
            </a:extLst>
          </p:cNvPr>
          <p:cNvSpPr>
            <a:spLocks noGrp="1"/>
          </p:cNvSpPr>
          <p:nvPr/>
        </p:nvSpPr>
        <p:spPr>
          <a:xfrm>
            <a:off x="6858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D35D93F-2F72-469A-B01E-43392B610863}"/>
              </a:ext>
            </a:extLst>
          </p:cNvPr>
          <p:cNvSpPr>
            <a:spLocks noGrp="1"/>
          </p:cNvSpPr>
          <p:nvPr/>
        </p:nvSpPr>
        <p:spPr>
          <a:xfrm>
            <a:off x="7620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6418964B-39B6-4D48-AB56-3D9F107291B0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2A655E7B-EBA4-42C9-9DDC-A1DF224A3965}"/>
              </a:ext>
            </a:extLst>
          </p:cNvPr>
          <p:cNvSpPr>
            <a:spLocks noGrp="1"/>
          </p:cNvSpPr>
          <p:nvPr/>
        </p:nvSpPr>
        <p:spPr>
          <a:xfrm>
            <a:off x="9144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B74D8C92-6E0F-4E37-ABA7-9DCCEFF21B35}"/>
              </a:ext>
            </a:extLst>
          </p:cNvPr>
          <p:cNvSpPr>
            <a:spLocks noGrp="1"/>
          </p:cNvSpPr>
          <p:nvPr/>
        </p:nvSpPr>
        <p:spPr>
          <a:xfrm>
            <a:off x="9906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A336E7A0-11E1-4113-97B6-6044EE8BD3DB}"/>
              </a:ext>
            </a:extLst>
          </p:cNvPr>
          <p:cNvSpPr>
            <a:spLocks noGrp="1"/>
          </p:cNvSpPr>
          <p:nvPr/>
        </p:nvSpPr>
        <p:spPr>
          <a:xfrm>
            <a:off x="10668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D2BD36C-D814-4461-9976-A380F2836379}"/>
              </a:ext>
            </a:extLst>
          </p:cNvPr>
          <p:cNvSpPr>
            <a:spLocks noGrp="1"/>
          </p:cNvSpPr>
          <p:nvPr/>
        </p:nvSpPr>
        <p:spPr>
          <a:xfrm>
            <a:off x="11430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CB86EF1-D65C-4D82-A2FA-A43BDD873CD5}"/>
              </a:ext>
            </a:extLst>
          </p:cNvPr>
          <p:cNvSpPr>
            <a:spLocks noGrp="1"/>
          </p:cNvSpPr>
          <p:nvPr/>
        </p:nvSpPr>
        <p:spPr>
          <a:xfrm>
            <a:off x="12192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403E62D6-0CD1-415A-ABFA-C2CF6E0E4BFB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2AAECF20-F632-45E5-91B8-9E9F3105AE46}"/>
              </a:ext>
            </a:extLst>
          </p:cNvPr>
          <p:cNvSpPr>
            <a:spLocks noGrp="1"/>
          </p:cNvSpPr>
          <p:nvPr/>
        </p:nvSpPr>
        <p:spPr>
          <a:xfrm>
            <a:off x="0" y="762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15A9C3DC-859E-423B-9071-53835CF23963}"/>
              </a:ext>
            </a:extLst>
          </p:cNvPr>
          <p:cNvSpPr>
            <a:spLocks noGrp="1"/>
          </p:cNvSpPr>
          <p:nvPr/>
        </p:nvSpPr>
        <p:spPr>
          <a:xfrm>
            <a:off x="0" y="1524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706E18A4-5DD3-456C-9AA0-FEBFDB697F69}"/>
              </a:ext>
            </a:extLst>
          </p:cNvPr>
          <p:cNvSpPr>
            <a:spLocks noGrp="1"/>
          </p:cNvSpPr>
          <p:nvPr/>
        </p:nvSpPr>
        <p:spPr>
          <a:xfrm>
            <a:off x="0" y="2286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4E62D45C-677E-40F9-A3C2-C4E4F552F66C}"/>
              </a:ext>
            </a:extLst>
          </p:cNvPr>
          <p:cNvSpPr>
            <a:spLocks noGrp="1"/>
          </p:cNvSpPr>
          <p:nvPr/>
        </p:nvSpPr>
        <p:spPr>
          <a:xfrm>
            <a:off x="0" y="3048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51A9DC4F-BAE5-4364-8E2A-AD6E66F73BBE}"/>
              </a:ext>
            </a:extLst>
          </p:cNvPr>
          <p:cNvSpPr>
            <a:spLocks noGrp="1"/>
          </p:cNvSpPr>
          <p:nvPr/>
        </p:nvSpPr>
        <p:spPr>
          <a:xfrm>
            <a:off x="0" y="3810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EA52E0A1-822C-487F-946E-1BB5F729E6A9}"/>
              </a:ext>
            </a:extLst>
          </p:cNvPr>
          <p:cNvSpPr>
            <a:spLocks noGrp="1"/>
          </p:cNvSpPr>
          <p:nvPr/>
        </p:nvSpPr>
        <p:spPr>
          <a:xfrm>
            <a:off x="0" y="4572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5D1D29C-EFE5-41C3-9BBE-6B04D8410A3A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A7B0354A-F4A6-47CB-B7D7-EC83941DA88D}"/>
              </a:ext>
            </a:extLst>
          </p:cNvPr>
          <p:cNvSpPr>
            <a:spLocks noGrp="1"/>
          </p:cNvSpPr>
          <p:nvPr/>
        </p:nvSpPr>
        <p:spPr>
          <a:xfrm>
            <a:off x="0" y="6096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6DF4DF1F-DF36-4594-A6EC-1E502B6FDAB2}"/>
              </a:ext>
            </a:extLst>
          </p:cNvPr>
          <p:cNvSpPr>
            <a:spLocks noGrp="1"/>
          </p:cNvSpPr>
          <p:nvPr/>
        </p:nvSpPr>
        <p:spPr>
          <a:xfrm>
            <a:off x="0" y="6858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AFAC7294-5E2D-4819-AEB9-0AC01645584F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A3FF7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E42C62DC-BCA6-43C8-AE67-3680DB6D9EAD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95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EEF8F2"/>
                </a:solidFill>
              </a:defRPr>
            </a:pPr>
            <a:r>
              <a:rPr sz="1125" b="1">
                <a:solidFill>
                  <a:srgbClr val="EEF8F2"/>
                </a:solidFill>
              </a:rPr>
              <a:t>How It Works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CC510D06-1202-41B1-AB02-8C0301663472}"/>
              </a:ext>
            </a:extLst>
          </p:cNvPr>
          <p:cNvSpPr>
            <a:spLocks noGrp="1"/>
          </p:cNvSpPr>
          <p:nvPr/>
        </p:nvSpPr>
        <p:spPr>
          <a:xfrm>
            <a:off x="11049000" y="266700"/>
            <a:ext cx="533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1">
                <a:solidFill>
                  <a:srgbClr val="A6B8AF"/>
                </a:solidFill>
              </a:defRPr>
            </a:pPr>
            <a:r>
              <a:rPr sz="1050" b="1">
                <a:solidFill>
                  <a:srgbClr val="A6B8AF"/>
                </a:solidFill>
              </a:rPr>
              <a:t>06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045A7C1C-987B-4647-B7B5-54EA3A8F4171}"/>
              </a:ext>
            </a:extLst>
          </p:cNvPr>
          <p:cNvSpPr>
            <a:spLocks noGrp="1"/>
          </p:cNvSpPr>
          <p:nvPr/>
        </p:nvSpPr>
        <p:spPr>
          <a:xfrm>
            <a:off x="685800" y="914400"/>
            <a:ext cx="89535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300" b="1">
                <a:solidFill>
                  <a:srgbClr val="EEF8F2"/>
                </a:solidFill>
              </a:defRPr>
            </a:pPr>
            <a:r>
              <a:rPr sz="3300" b="1">
                <a:solidFill>
                  <a:srgbClr val="EEF8F2"/>
                </a:solidFill>
              </a:rPr>
              <a:t>Show the product flow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F57DE013-EE41-43F1-B75C-7DA111CC28B5}"/>
              </a:ext>
            </a:extLst>
          </p:cNvPr>
          <p:cNvSpPr>
            <a:spLocks noGrp="1"/>
          </p:cNvSpPr>
          <p:nvPr/>
        </p:nvSpPr>
        <p:spPr>
          <a:xfrm>
            <a:off x="723900" y="2095500"/>
            <a:ext cx="7429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A6B8AF"/>
                </a:solidFill>
              </a:defRPr>
            </a:pPr>
            <a:r>
              <a:rPr sz="1650" b="0">
                <a:solidFill>
                  <a:srgbClr val="A6B8AF"/>
                </a:solidFill>
              </a:rPr>
              <a:t>Seal source -&gt; recover screenshot -&gt; open proof -&gt; warn limits.</a:t>
            </a:r>
          </a:p>
        </p:txBody>
      </p:sp>
      <p:pic>
        <p:nvPicPr>
          <p:cNvPr id="79" name="圖片 78"/>
          <p:cNvPicPr>
            <a:picLocks noChangeAspect="1"/>
          </p:cNvPicPr>
          <p:nvPr/>
        </p:nvPicPr>
        <p:blipFill>
          <a:blip r:embed="rId3"/>
          <a:srcRect t="213" b="213"/>
          <a:stretch>
            <a:fillRect/>
          </a:stretch>
        </p:blipFill>
        <p:spPr>
          <a:xfrm>
            <a:off x="723900" y="3105150"/>
            <a:ext cx="2238375" cy="1485900"/>
          </a:xfrm>
          <a:prstGeom prst="roundRect">
            <a:avLst>
              <a:gd name="adj" fmla="val 5128"/>
            </a:avLst>
          </a:prstGeom>
        </p:spPr>
      </p:pic>
      <p:pic>
        <p:nvPicPr>
          <p:cNvPr id="80" name="圖片 79"/>
          <p:cNvPicPr>
            <a:picLocks noChangeAspect="1"/>
          </p:cNvPicPr>
          <p:nvPr/>
        </p:nvPicPr>
        <p:blipFill>
          <a:blip r:embed="rId4"/>
          <a:srcRect t="6284" b="6284"/>
          <a:stretch>
            <a:fillRect/>
          </a:stretch>
        </p:blipFill>
        <p:spPr>
          <a:xfrm>
            <a:off x="3390900" y="3105150"/>
            <a:ext cx="2238375" cy="1485900"/>
          </a:xfrm>
          <a:prstGeom prst="roundRect">
            <a:avLst>
              <a:gd name="adj" fmla="val 5128"/>
            </a:avLst>
          </a:prstGeom>
        </p:spPr>
      </p:pic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07CFADC1-97A8-47A0-B394-CDECBF1561AB}"/>
              </a:ext>
            </a:extLst>
          </p:cNvPr>
          <p:cNvSpPr>
            <a:spLocks noGrp="1"/>
          </p:cNvSpPr>
          <p:nvPr/>
        </p:nvSpPr>
        <p:spPr>
          <a:xfrm>
            <a:off x="6057900" y="3105150"/>
            <a:ext cx="2238375" cy="1485900"/>
          </a:xfrm>
          <a:prstGeom prst="roundRect">
            <a:avLst>
              <a:gd name="adj" fmla="val 5128"/>
            </a:avLst>
          </a:prstGeom>
          <a:solidFill>
            <a:srgbClr val="10261D">
              <a:alpha val="90000"/>
            </a:srgbClr>
          </a:solidFill>
          <a:ln w="9525">
            <a:solidFill>
              <a:srgbClr val="A3FF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8941BCAF-5B7B-420A-962F-8A94E2687783}"/>
              </a:ext>
            </a:extLst>
          </p:cNvPr>
          <p:cNvSpPr>
            <a:spLocks noGrp="1"/>
          </p:cNvSpPr>
          <p:nvPr/>
        </p:nvSpPr>
        <p:spPr>
          <a:xfrm>
            <a:off x="6343650" y="3429000"/>
            <a:ext cx="16764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1">
                <a:solidFill>
                  <a:srgbClr val="A3FF7A"/>
                </a:solidFill>
              </a:defRPr>
            </a:pPr>
            <a:r>
              <a:rPr sz="1650" b="1">
                <a:solidFill>
                  <a:srgbClr val="A3FF7A"/>
                </a:solidFill>
              </a:rPr>
              <a:t>Open Proof Page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385D9C5F-7653-4DDB-A560-B8736CC298D2}"/>
              </a:ext>
            </a:extLst>
          </p:cNvPr>
          <p:cNvSpPr>
            <a:spLocks noGrp="1"/>
          </p:cNvSpPr>
          <p:nvPr/>
        </p:nvSpPr>
        <p:spPr>
          <a:xfrm>
            <a:off x="6362700" y="3905250"/>
            <a:ext cx="1638300" cy="4191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125" b="0">
                <a:solidFill>
                  <a:srgbClr val="EEF8F2"/>
                </a:solidFill>
              </a:defRPr>
            </a:pPr>
            <a:r>
              <a:rPr sz="1125" b="0">
                <a:solidFill>
                  <a:srgbClr val="EEF8F2"/>
                </a:solidFill>
              </a:rPr>
              <a:t>issuer • AI usage • source • expiry • status</a:t>
            </a:r>
          </a:p>
        </p:txBody>
      </p:sp>
      <p:sp>
        <p:nvSpPr>
          <p:cNvPr id="39" name="矩形: 圓角 38">
            <a:extLst>
              <a:ext uri="{FF2B5EF4-FFF2-40B4-BE49-F238E27FC236}">
                <a16:creationId xmlns:a16="http://schemas.microsoft.com/office/drawing/2014/main" id="{68F1B2B6-4012-49D6-93BA-F43EF737AE2D}"/>
              </a:ext>
            </a:extLst>
          </p:cNvPr>
          <p:cNvSpPr>
            <a:spLocks noGrp="1"/>
          </p:cNvSpPr>
          <p:nvPr/>
        </p:nvSpPr>
        <p:spPr>
          <a:xfrm>
            <a:off x="8724900" y="3105150"/>
            <a:ext cx="2238375" cy="1485900"/>
          </a:xfrm>
          <a:prstGeom prst="roundRect">
            <a:avLst>
              <a:gd name="adj" fmla="val 5128"/>
            </a:avLst>
          </a:prstGeom>
          <a:solidFill>
            <a:srgbClr val="F0C86B">
              <a:alpha val="10000"/>
            </a:srgbClr>
          </a:solidFill>
          <a:ln w="9525">
            <a:solidFill>
              <a:srgbClr val="F0C8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矩形 39">
            <a:extLst>
              <a:ext uri="{FF2B5EF4-FFF2-40B4-BE49-F238E27FC236}">
                <a16:creationId xmlns:a16="http://schemas.microsoft.com/office/drawing/2014/main" id="{8787B65F-A4E9-403A-8796-07D1AEC18622}"/>
              </a:ext>
            </a:extLst>
          </p:cNvPr>
          <p:cNvSpPr>
            <a:spLocks noGrp="1"/>
          </p:cNvSpPr>
          <p:nvPr/>
        </p:nvSpPr>
        <p:spPr>
          <a:xfrm>
            <a:off x="9086850" y="3429000"/>
            <a:ext cx="14859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800" b="1">
                <a:solidFill>
                  <a:srgbClr val="F0C86B"/>
                </a:solidFill>
              </a:defRPr>
            </a:pPr>
            <a:r>
              <a:rPr sz="1800" b="1">
                <a:solidFill>
                  <a:srgbClr val="F0C86B"/>
                </a:solidFill>
              </a:rPr>
              <a:t>Guardrails</a:t>
            </a:r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ACC94734-2DD3-48C8-BCA0-FE0A91FC98CC}"/>
              </a:ext>
            </a:extLst>
          </p:cNvPr>
          <p:cNvSpPr>
            <a:spLocks noGrp="1"/>
          </p:cNvSpPr>
          <p:nvPr/>
        </p:nvSpPr>
        <p:spPr>
          <a:xfrm>
            <a:off x="9029700" y="3905250"/>
            <a:ext cx="1600200" cy="4572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>
                <a:solidFill>
                  <a:srgbClr val="EEF8F2"/>
                </a:solidFill>
              </a:defRPr>
            </a:pPr>
            <a:r>
              <a:rPr sz="1200" b="0">
                <a:solidFill>
                  <a:srgbClr val="EEF8F2"/>
                </a:solidFill>
              </a:rPr>
              <a:t>changed copy warning</a:t>
            </a:r>
          </a:p>
          <a:p>
            <a:pPr algn="ctr">
              <a:defRPr sz="1200" b="0">
                <a:solidFill>
                  <a:srgbClr val="EEF8F2"/>
                </a:solidFill>
              </a:defRPr>
            </a:pPr>
            <a:r>
              <a:rPr sz="1200" b="0">
                <a:solidFill>
                  <a:srgbClr val="EEF8F2"/>
                </a:solidFill>
              </a:rPr>
              <a:t>unknown stays unknown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B07F9D77-7604-4E0C-9DD9-858829C9E1B1}"/>
              </a:ext>
            </a:extLst>
          </p:cNvPr>
          <p:cNvSpPr>
            <a:spLocks noGrp="1"/>
          </p:cNvSpPr>
          <p:nvPr/>
        </p:nvSpPr>
        <p:spPr>
          <a:xfrm>
            <a:off x="781050" y="480060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A3FF7A"/>
                </a:solidFill>
              </a:defRPr>
            </a:pPr>
            <a:r>
              <a:rPr sz="1425" b="1">
                <a:solidFill>
                  <a:srgbClr val="A3FF7A"/>
                </a:solidFill>
              </a:rPr>
              <a:t>1. Seal original</a:t>
            </a:r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713A9F4D-675F-4756-B6B9-1AD17E3CCFAF}"/>
              </a:ext>
            </a:extLst>
          </p:cNvPr>
          <p:cNvSpPr>
            <a:spLocks noGrp="1"/>
          </p:cNvSpPr>
          <p:nvPr/>
        </p:nvSpPr>
        <p:spPr>
          <a:xfrm>
            <a:off x="3429000" y="4800600"/>
            <a:ext cx="21907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6EE7D8"/>
                </a:solidFill>
              </a:defRPr>
            </a:pPr>
            <a:r>
              <a:rPr sz="1425" b="1">
                <a:solidFill>
                  <a:srgbClr val="6EE7D8"/>
                </a:solidFill>
              </a:rPr>
              <a:t>2. Recover screenshot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0B5A6CDA-7AB0-4E0C-80CD-3399915C3DC8}"/>
              </a:ext>
            </a:extLst>
          </p:cNvPr>
          <p:cNvSpPr>
            <a:spLocks noGrp="1"/>
          </p:cNvSpPr>
          <p:nvPr/>
        </p:nvSpPr>
        <p:spPr>
          <a:xfrm>
            <a:off x="6134100" y="480060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A3FF7A"/>
                </a:solidFill>
              </a:defRPr>
            </a:pPr>
            <a:r>
              <a:rPr sz="1425" b="1">
                <a:solidFill>
                  <a:srgbClr val="A3FF7A"/>
                </a:solidFill>
              </a:rPr>
              <a:t>3. Check proof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2DAF72AC-2256-412E-8650-55AE64E9655F}"/>
              </a:ext>
            </a:extLst>
          </p:cNvPr>
          <p:cNvSpPr>
            <a:spLocks noGrp="1"/>
          </p:cNvSpPr>
          <p:nvPr/>
        </p:nvSpPr>
        <p:spPr>
          <a:xfrm>
            <a:off x="8782050" y="4800600"/>
            <a:ext cx="2095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425" b="1">
                <a:solidFill>
                  <a:srgbClr val="F0C86B"/>
                </a:solidFill>
              </a:defRPr>
            </a:pPr>
            <a:r>
              <a:rPr sz="1425" b="1">
                <a:solidFill>
                  <a:srgbClr val="F0C86B"/>
                </a:solidFill>
              </a:rPr>
              <a:t>4. Warn limits</a:t>
            </a:r>
          </a:p>
        </p:txBody>
      </p:sp>
    </p:spTree>
    <p:extLst>
      <p:ext uri="{BB962C8B-B14F-4D97-AF65-F5344CB8AC3E}">
        <p14:creationId xmlns:p14="http://schemas.microsoft.com/office/powerpoint/2010/main" val="208207843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80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矩形 45">
            <a:extLst>
              <a:ext uri="{FF2B5EF4-FFF2-40B4-BE49-F238E27FC236}">
                <a16:creationId xmlns:a16="http://schemas.microsoft.com/office/drawing/2014/main" id="{40C71C58-76D1-4C2E-A7FA-29A733DDBD9A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807"/>
          </a:solidFill>
          <a:ln w="0">
            <a:solidFill>
              <a:srgbClr val="05080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9A4D34E2-F5D2-4654-B727-522D18730FC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94AA6304-5F45-4000-B283-E34517A635CE}"/>
              </a:ext>
            </a:extLst>
          </p:cNvPr>
          <p:cNvSpPr>
            <a:spLocks noGrp="1"/>
          </p:cNvSpPr>
          <p:nvPr/>
        </p:nvSpPr>
        <p:spPr>
          <a:xfrm>
            <a:off x="762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276F2DF3-6C6B-40D6-BA20-957CAAC62CB4}"/>
              </a:ext>
            </a:extLst>
          </p:cNvPr>
          <p:cNvSpPr>
            <a:spLocks noGrp="1"/>
          </p:cNvSpPr>
          <p:nvPr/>
        </p:nvSpPr>
        <p:spPr>
          <a:xfrm>
            <a:off x="1524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048C1D8B-074F-4B0A-9BC5-B70EB5A66010}"/>
              </a:ext>
            </a:extLst>
          </p:cNvPr>
          <p:cNvSpPr>
            <a:spLocks noGrp="1"/>
          </p:cNvSpPr>
          <p:nvPr/>
        </p:nvSpPr>
        <p:spPr>
          <a:xfrm>
            <a:off x="2286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7BEC82D8-624C-4296-BCF1-4FAEECEB9A91}"/>
              </a:ext>
            </a:extLst>
          </p:cNvPr>
          <p:cNvSpPr>
            <a:spLocks noGrp="1"/>
          </p:cNvSpPr>
          <p:nvPr/>
        </p:nvSpPr>
        <p:spPr>
          <a:xfrm>
            <a:off x="3048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C2143F19-CDE8-4902-B01E-BC73115E62B5}"/>
              </a:ext>
            </a:extLst>
          </p:cNvPr>
          <p:cNvSpPr>
            <a:spLocks noGrp="1"/>
          </p:cNvSpPr>
          <p:nvPr/>
        </p:nvSpPr>
        <p:spPr>
          <a:xfrm>
            <a:off x="3810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6CDF8E5B-1E4B-4C50-8A92-05974AAF24F9}"/>
              </a:ext>
            </a:extLst>
          </p:cNvPr>
          <p:cNvSpPr>
            <a:spLocks noGrp="1"/>
          </p:cNvSpPr>
          <p:nvPr/>
        </p:nvSpPr>
        <p:spPr>
          <a:xfrm>
            <a:off x="4572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C912CED-CBF0-42DA-924A-6635B96DDBE1}"/>
              </a:ext>
            </a:extLst>
          </p:cNvPr>
          <p:cNvSpPr>
            <a:spLocks noGrp="1"/>
          </p:cNvSpPr>
          <p:nvPr/>
        </p:nvSpPr>
        <p:spPr>
          <a:xfrm>
            <a:off x="5334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C2B4A9D-62FB-445B-AC3C-1431F21301A5}"/>
              </a:ext>
            </a:extLst>
          </p:cNvPr>
          <p:cNvSpPr>
            <a:spLocks noGrp="1"/>
          </p:cNvSpPr>
          <p:nvPr/>
        </p:nvSpPr>
        <p:spPr>
          <a:xfrm>
            <a:off x="6096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79799ED-493E-4194-AE75-4E0C0FA73D9C}"/>
              </a:ext>
            </a:extLst>
          </p:cNvPr>
          <p:cNvSpPr>
            <a:spLocks noGrp="1"/>
          </p:cNvSpPr>
          <p:nvPr/>
        </p:nvSpPr>
        <p:spPr>
          <a:xfrm>
            <a:off x="6858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E307FE12-2BC6-41BB-A14B-195B5D74C736}"/>
              </a:ext>
            </a:extLst>
          </p:cNvPr>
          <p:cNvSpPr>
            <a:spLocks noGrp="1"/>
          </p:cNvSpPr>
          <p:nvPr/>
        </p:nvSpPr>
        <p:spPr>
          <a:xfrm>
            <a:off x="7620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4056D18E-01B8-4DBB-B05F-D06A01AB8C55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52D972B3-7146-40FE-8703-CFA6A822D028}"/>
              </a:ext>
            </a:extLst>
          </p:cNvPr>
          <p:cNvSpPr>
            <a:spLocks noGrp="1"/>
          </p:cNvSpPr>
          <p:nvPr/>
        </p:nvSpPr>
        <p:spPr>
          <a:xfrm>
            <a:off x="9144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E7530C88-9F95-4202-BFDA-AFE940145EE0}"/>
              </a:ext>
            </a:extLst>
          </p:cNvPr>
          <p:cNvSpPr>
            <a:spLocks noGrp="1"/>
          </p:cNvSpPr>
          <p:nvPr/>
        </p:nvSpPr>
        <p:spPr>
          <a:xfrm>
            <a:off x="9906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DFBD9BF-ADEC-4D2B-90B7-D17AFCA7826B}"/>
              </a:ext>
            </a:extLst>
          </p:cNvPr>
          <p:cNvSpPr>
            <a:spLocks noGrp="1"/>
          </p:cNvSpPr>
          <p:nvPr/>
        </p:nvSpPr>
        <p:spPr>
          <a:xfrm>
            <a:off x="10668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5C19A47-EF59-4502-83A3-15909E05E033}"/>
              </a:ext>
            </a:extLst>
          </p:cNvPr>
          <p:cNvSpPr>
            <a:spLocks noGrp="1"/>
          </p:cNvSpPr>
          <p:nvPr/>
        </p:nvSpPr>
        <p:spPr>
          <a:xfrm>
            <a:off x="11430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073EA167-A714-4150-B58A-CFD9ECF45215}"/>
              </a:ext>
            </a:extLst>
          </p:cNvPr>
          <p:cNvSpPr>
            <a:spLocks noGrp="1"/>
          </p:cNvSpPr>
          <p:nvPr/>
        </p:nvSpPr>
        <p:spPr>
          <a:xfrm>
            <a:off x="12192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DA72BCBC-126C-43B4-9AAB-C3D23B71C78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4E29F948-66BD-4B5F-AC97-CE9FABE086E9}"/>
              </a:ext>
            </a:extLst>
          </p:cNvPr>
          <p:cNvSpPr>
            <a:spLocks noGrp="1"/>
          </p:cNvSpPr>
          <p:nvPr/>
        </p:nvSpPr>
        <p:spPr>
          <a:xfrm>
            <a:off x="0" y="762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C373E583-C183-4DC8-B1EE-D617504F7B6E}"/>
              </a:ext>
            </a:extLst>
          </p:cNvPr>
          <p:cNvSpPr>
            <a:spLocks noGrp="1"/>
          </p:cNvSpPr>
          <p:nvPr/>
        </p:nvSpPr>
        <p:spPr>
          <a:xfrm>
            <a:off x="0" y="1524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3BC36B3F-643B-4732-BC75-7D55F7228D15}"/>
              </a:ext>
            </a:extLst>
          </p:cNvPr>
          <p:cNvSpPr>
            <a:spLocks noGrp="1"/>
          </p:cNvSpPr>
          <p:nvPr/>
        </p:nvSpPr>
        <p:spPr>
          <a:xfrm>
            <a:off x="0" y="2286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E630865D-9762-414D-971B-D913DE8B54C7}"/>
              </a:ext>
            </a:extLst>
          </p:cNvPr>
          <p:cNvSpPr>
            <a:spLocks noGrp="1"/>
          </p:cNvSpPr>
          <p:nvPr/>
        </p:nvSpPr>
        <p:spPr>
          <a:xfrm>
            <a:off x="0" y="3048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3CDA91C6-3E35-48D7-96F3-B7D8E296FFA7}"/>
              </a:ext>
            </a:extLst>
          </p:cNvPr>
          <p:cNvSpPr>
            <a:spLocks noGrp="1"/>
          </p:cNvSpPr>
          <p:nvPr/>
        </p:nvSpPr>
        <p:spPr>
          <a:xfrm>
            <a:off x="0" y="3810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727CC8D-C0BD-4B4B-848A-03C08820463F}"/>
              </a:ext>
            </a:extLst>
          </p:cNvPr>
          <p:cNvSpPr>
            <a:spLocks noGrp="1"/>
          </p:cNvSpPr>
          <p:nvPr/>
        </p:nvSpPr>
        <p:spPr>
          <a:xfrm>
            <a:off x="0" y="4572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CAD7815-F70B-4910-A579-E5940EE328F3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9210DF33-CA50-4219-BB53-F97A8ABF463E}"/>
              </a:ext>
            </a:extLst>
          </p:cNvPr>
          <p:cNvSpPr>
            <a:spLocks noGrp="1"/>
          </p:cNvSpPr>
          <p:nvPr/>
        </p:nvSpPr>
        <p:spPr>
          <a:xfrm>
            <a:off x="0" y="6096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6C27C62F-1090-4D6C-B2DA-52B0334A2205}"/>
              </a:ext>
            </a:extLst>
          </p:cNvPr>
          <p:cNvSpPr>
            <a:spLocks noGrp="1"/>
          </p:cNvSpPr>
          <p:nvPr/>
        </p:nvSpPr>
        <p:spPr>
          <a:xfrm>
            <a:off x="0" y="6858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FF14A0E6-FE32-43C5-80DC-4550CB14473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A3FF7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CBF812BE-704C-4C95-8256-597380EA8461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95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EEF8F2"/>
                </a:solidFill>
              </a:defRPr>
            </a:pPr>
            <a:r>
              <a:rPr sz="1125" b="1">
                <a:solidFill>
                  <a:srgbClr val="EEF8F2"/>
                </a:solidFill>
              </a:rPr>
              <a:t>AI Leverage &amp; Technical Execution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3C12157-DB17-40BB-8A3B-A9F06A32E7EE}"/>
              </a:ext>
            </a:extLst>
          </p:cNvPr>
          <p:cNvSpPr>
            <a:spLocks noGrp="1"/>
          </p:cNvSpPr>
          <p:nvPr/>
        </p:nvSpPr>
        <p:spPr>
          <a:xfrm>
            <a:off x="11049000" y="266700"/>
            <a:ext cx="533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1">
                <a:solidFill>
                  <a:srgbClr val="A6B8AF"/>
                </a:solidFill>
              </a:defRPr>
            </a:pPr>
            <a:r>
              <a:rPr sz="1050" b="1">
                <a:solidFill>
                  <a:srgbClr val="A6B8AF"/>
                </a:solidFill>
              </a:rPr>
              <a:t>07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30502A32-EE06-4EFA-9F96-4C047AE84D7E}"/>
              </a:ext>
            </a:extLst>
          </p:cNvPr>
          <p:cNvSpPr>
            <a:spLocks noGrp="1"/>
          </p:cNvSpPr>
          <p:nvPr/>
        </p:nvSpPr>
        <p:spPr>
          <a:xfrm>
            <a:off x="685800" y="914400"/>
            <a:ext cx="89535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300" b="1">
                <a:solidFill>
                  <a:srgbClr val="EEF8F2"/>
                </a:solidFill>
              </a:defRPr>
            </a:pPr>
            <a:r>
              <a:rPr sz="3300" b="1">
                <a:solidFill>
                  <a:srgbClr val="EEF8F2"/>
                </a:solidFill>
              </a:rPr>
              <a:t>AI Evidence Layer: explain trust without pretending certainty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27B00EB9-D5DD-4F51-8746-B646D6A528EA}"/>
              </a:ext>
            </a:extLst>
          </p:cNvPr>
          <p:cNvSpPr>
            <a:spLocks noGrp="1"/>
          </p:cNvSpPr>
          <p:nvPr/>
        </p:nvSpPr>
        <p:spPr>
          <a:xfrm>
            <a:off x="723900" y="2095500"/>
            <a:ext cx="7429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A6B8AF"/>
                </a:solidFill>
              </a:defRPr>
            </a:pPr>
            <a:r>
              <a:rPr sz="1650" b="0">
                <a:solidFill>
                  <a:srgbClr val="A6B8AF"/>
                </a:solidFill>
              </a:rPr>
              <a:t>Not a black-box fake verdict. It turns provenance signals into user-facing evidence.</a:t>
            </a:r>
          </a:p>
        </p:txBody>
      </p:sp>
      <p:sp>
        <p:nvSpPr>
          <p:cNvPr id="34" name="矩形: 圓角 33">
            <a:extLst>
              <a:ext uri="{FF2B5EF4-FFF2-40B4-BE49-F238E27FC236}">
                <a16:creationId xmlns:a16="http://schemas.microsoft.com/office/drawing/2014/main" id="{0A9AF94B-0AB0-4FE9-A116-80309622DDF7}"/>
              </a:ext>
            </a:extLst>
          </p:cNvPr>
          <p:cNvSpPr>
            <a:spLocks noGrp="1"/>
          </p:cNvSpPr>
          <p:nvPr/>
        </p:nvSpPr>
        <p:spPr>
          <a:xfrm>
            <a:off x="685800" y="3219450"/>
            <a:ext cx="2571750" cy="1524000"/>
          </a:xfrm>
          <a:prstGeom prst="roundRect">
            <a:avLst>
              <a:gd name="adj" fmla="val 5000"/>
            </a:avLst>
          </a:prstGeom>
          <a:solidFill>
            <a:srgbClr val="10261D">
              <a:alpha val="90000"/>
            </a:srgbClr>
          </a:solidFill>
          <a:ln w="9525">
            <a:solidFill>
              <a:srgbClr val="6EE7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E607A08A-DE76-497B-90CF-FD319961A261}"/>
              </a:ext>
            </a:extLst>
          </p:cNvPr>
          <p:cNvSpPr>
            <a:spLocks noGrp="1"/>
          </p:cNvSpPr>
          <p:nvPr/>
        </p:nvSpPr>
        <p:spPr>
          <a:xfrm>
            <a:off x="895350" y="3409950"/>
            <a:ext cx="2152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6EE7D8"/>
                </a:solidFill>
              </a:defRPr>
            </a:pPr>
            <a:r>
              <a:rPr sz="1575" b="1">
                <a:solidFill>
                  <a:srgbClr val="6EE7D8"/>
                </a:solidFill>
              </a:rPr>
              <a:t>Source recovery</a:t>
            </a:r>
          </a:p>
        </p:txBody>
      </p:sp>
      <p:sp>
        <p:nvSpPr>
          <p:cNvPr id="36" name="矩形 35">
            <a:extLst>
              <a:ext uri="{FF2B5EF4-FFF2-40B4-BE49-F238E27FC236}">
                <a16:creationId xmlns:a16="http://schemas.microsoft.com/office/drawing/2014/main" id="{25CA91BB-8958-4F1D-9795-5F59F8B98B11}"/>
              </a:ext>
            </a:extLst>
          </p:cNvPr>
          <p:cNvSpPr>
            <a:spLocks noGrp="1"/>
          </p:cNvSpPr>
          <p:nvPr/>
        </p:nvSpPr>
        <p:spPr>
          <a:xfrm>
            <a:off x="895350" y="3867150"/>
            <a:ext cx="21526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EEF8F2"/>
                </a:solidFill>
              </a:defRPr>
            </a:pPr>
            <a:r>
              <a:rPr sz="1275" b="0">
                <a:solidFill>
                  <a:srgbClr val="EEF8F2"/>
                </a:solidFill>
              </a:rPr>
              <a:t>Exact hash and pHash variants recover originals, screenshots, crops, and reposts.</a:t>
            </a:r>
          </a:p>
        </p:txBody>
      </p:sp>
      <p:sp>
        <p:nvSpPr>
          <p:cNvPr id="37" name="矩形: 圓角 36">
            <a:extLst>
              <a:ext uri="{FF2B5EF4-FFF2-40B4-BE49-F238E27FC236}">
                <a16:creationId xmlns:a16="http://schemas.microsoft.com/office/drawing/2014/main" id="{ABFF6029-4B18-4B61-9273-12B8DE73D29E}"/>
              </a:ext>
            </a:extLst>
          </p:cNvPr>
          <p:cNvSpPr>
            <a:spLocks noGrp="1"/>
          </p:cNvSpPr>
          <p:nvPr/>
        </p:nvSpPr>
        <p:spPr>
          <a:xfrm>
            <a:off x="3543300" y="3219450"/>
            <a:ext cx="2571750" cy="1524000"/>
          </a:xfrm>
          <a:prstGeom prst="roundRect">
            <a:avLst>
              <a:gd name="adj" fmla="val 5000"/>
            </a:avLst>
          </a:prstGeom>
          <a:solidFill>
            <a:srgbClr val="10261D">
              <a:alpha val="90000"/>
            </a:srgbClr>
          </a:solidFill>
          <a:ln w="9525">
            <a:solidFill>
              <a:srgbClr val="A3FF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A6C17D41-BAD5-4793-A590-04FF7B582F2F}"/>
              </a:ext>
            </a:extLst>
          </p:cNvPr>
          <p:cNvSpPr>
            <a:spLocks noGrp="1"/>
          </p:cNvSpPr>
          <p:nvPr/>
        </p:nvSpPr>
        <p:spPr>
          <a:xfrm>
            <a:off x="3752850" y="3409950"/>
            <a:ext cx="2152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A3FF7A"/>
                </a:solidFill>
              </a:defRPr>
            </a:pPr>
            <a:r>
              <a:rPr sz="1575" b="1">
                <a:solidFill>
                  <a:srgbClr val="A3FF7A"/>
                </a:solidFill>
              </a:rPr>
              <a:t>Human accountability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37B5662E-20BA-459D-9797-FCFA3F2A0B42}"/>
              </a:ext>
            </a:extLst>
          </p:cNvPr>
          <p:cNvSpPr>
            <a:spLocks noGrp="1"/>
          </p:cNvSpPr>
          <p:nvPr/>
        </p:nvSpPr>
        <p:spPr>
          <a:xfrm>
            <a:off x="3752850" y="3867150"/>
            <a:ext cx="21526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EEF8F2"/>
                </a:solidFill>
              </a:defRPr>
            </a:pPr>
            <a:r>
              <a:rPr sz="1275" b="0">
                <a:solidFill>
                  <a:srgbClr val="EEF8F2"/>
                </a:solidFill>
              </a:rPr>
              <a:t>The recovered proof page shows issuer, trust level, source URL, expiry, and status.</a:t>
            </a:r>
          </a:p>
        </p:txBody>
      </p:sp>
      <p:sp>
        <p:nvSpPr>
          <p:cNvPr id="40" name="矩形: 圓角 39">
            <a:extLst>
              <a:ext uri="{FF2B5EF4-FFF2-40B4-BE49-F238E27FC236}">
                <a16:creationId xmlns:a16="http://schemas.microsoft.com/office/drawing/2014/main" id="{8327770F-34BD-4E89-A33C-DFE0AA054874}"/>
              </a:ext>
            </a:extLst>
          </p:cNvPr>
          <p:cNvSpPr>
            <a:spLocks noGrp="1"/>
          </p:cNvSpPr>
          <p:nvPr/>
        </p:nvSpPr>
        <p:spPr>
          <a:xfrm>
            <a:off x="6400800" y="3219450"/>
            <a:ext cx="2571750" cy="1524000"/>
          </a:xfrm>
          <a:prstGeom prst="roundRect">
            <a:avLst>
              <a:gd name="adj" fmla="val 5000"/>
            </a:avLst>
          </a:prstGeom>
          <a:solidFill>
            <a:srgbClr val="10261D">
              <a:alpha val="90000"/>
            </a:srgbClr>
          </a:solidFill>
          <a:ln w="9525">
            <a:solidFill>
              <a:srgbClr val="6EE7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3424275E-D101-4A89-8698-1F44E2B8A956}"/>
              </a:ext>
            </a:extLst>
          </p:cNvPr>
          <p:cNvSpPr>
            <a:spLocks noGrp="1"/>
          </p:cNvSpPr>
          <p:nvPr/>
        </p:nvSpPr>
        <p:spPr>
          <a:xfrm>
            <a:off x="6610350" y="3409950"/>
            <a:ext cx="215265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6EE7D8"/>
                </a:solidFill>
              </a:defRPr>
            </a:pPr>
            <a:r>
              <a:rPr sz="1575" b="1">
                <a:solidFill>
                  <a:srgbClr val="6EE7D8"/>
                </a:solidFill>
              </a:rPr>
              <a:t>AI context</a:t>
            </a:r>
          </a:p>
        </p:txBody>
      </p:sp>
      <p:sp>
        <p:nvSpPr>
          <p:cNvPr id="42" name="矩形 41">
            <a:extLst>
              <a:ext uri="{FF2B5EF4-FFF2-40B4-BE49-F238E27FC236}">
                <a16:creationId xmlns:a16="http://schemas.microsoft.com/office/drawing/2014/main" id="{9FF240B1-451C-4BFE-838D-98C6BEDA8456}"/>
              </a:ext>
            </a:extLst>
          </p:cNvPr>
          <p:cNvSpPr>
            <a:spLocks noGrp="1"/>
          </p:cNvSpPr>
          <p:nvPr/>
        </p:nvSpPr>
        <p:spPr>
          <a:xfrm>
            <a:off x="6610350" y="3867150"/>
            <a:ext cx="215265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EEF8F2"/>
                </a:solidFill>
              </a:defRPr>
            </a:pPr>
            <a:r>
              <a:rPr sz="1275" b="0">
                <a:solidFill>
                  <a:srgbClr val="EEF8F2"/>
                </a:solidFill>
              </a:rPr>
              <a:t>Declared AI usage plus optional C2PA, watermark, classifier, and OCR signals.</a:t>
            </a:r>
          </a:p>
        </p:txBody>
      </p:sp>
      <p:sp>
        <p:nvSpPr>
          <p:cNvPr id="43" name="矩形: 圓角 42">
            <a:extLst>
              <a:ext uri="{FF2B5EF4-FFF2-40B4-BE49-F238E27FC236}">
                <a16:creationId xmlns:a16="http://schemas.microsoft.com/office/drawing/2014/main" id="{6282D37F-0D56-4FE5-B76B-5E3F8C377E6F}"/>
              </a:ext>
            </a:extLst>
          </p:cNvPr>
          <p:cNvSpPr>
            <a:spLocks noGrp="1"/>
          </p:cNvSpPr>
          <p:nvPr/>
        </p:nvSpPr>
        <p:spPr>
          <a:xfrm>
            <a:off x="9258300" y="3219450"/>
            <a:ext cx="2247900" cy="1524000"/>
          </a:xfrm>
          <a:prstGeom prst="roundRect">
            <a:avLst>
              <a:gd name="adj" fmla="val 5000"/>
            </a:avLst>
          </a:prstGeom>
          <a:solidFill>
            <a:srgbClr val="10261D">
              <a:alpha val="90000"/>
            </a:srgbClr>
          </a:solidFill>
          <a:ln w="9525">
            <a:solidFill>
              <a:srgbClr val="F0C86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9A616B70-AAD6-4C09-B686-D31613B40553}"/>
              </a:ext>
            </a:extLst>
          </p:cNvPr>
          <p:cNvSpPr>
            <a:spLocks noGrp="1"/>
          </p:cNvSpPr>
          <p:nvPr/>
        </p:nvSpPr>
        <p:spPr>
          <a:xfrm>
            <a:off x="9467850" y="3409950"/>
            <a:ext cx="18288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575" b="1">
                <a:solidFill>
                  <a:srgbClr val="F0C86B"/>
                </a:solidFill>
              </a:defRPr>
            </a:pPr>
            <a:r>
              <a:rPr sz="1575" b="1">
                <a:solidFill>
                  <a:srgbClr val="F0C86B"/>
                </a:solidFill>
              </a:rPr>
              <a:t>Change risk</a:t>
            </a:r>
          </a:p>
        </p:txBody>
      </p:sp>
      <p:sp>
        <p:nvSpPr>
          <p:cNvPr id="45" name="矩形 44">
            <a:extLst>
              <a:ext uri="{FF2B5EF4-FFF2-40B4-BE49-F238E27FC236}">
                <a16:creationId xmlns:a16="http://schemas.microsoft.com/office/drawing/2014/main" id="{EFC4DB49-D190-4A8C-B7E1-8F57F69C4B63}"/>
              </a:ext>
            </a:extLst>
          </p:cNvPr>
          <p:cNvSpPr>
            <a:spLocks noGrp="1"/>
          </p:cNvSpPr>
          <p:nvPr/>
        </p:nvSpPr>
        <p:spPr>
          <a:xfrm>
            <a:off x="9467850" y="3867150"/>
            <a:ext cx="1828800" cy="666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275" b="0">
                <a:solidFill>
                  <a:srgbClr val="EEF8F2"/>
                </a:solidFill>
              </a:defRPr>
            </a:pPr>
            <a:r>
              <a:rPr sz="1275" b="0">
                <a:solidFill>
                  <a:srgbClr val="EEF8F2"/>
                </a:solidFill>
              </a:rPr>
              <a:t>Separates verified original, screenshot recovery, changed copy, conflict, and unknown.</a:t>
            </a:r>
          </a:p>
        </p:txBody>
      </p:sp>
    </p:spTree>
    <p:extLst>
      <p:ext uri="{BB962C8B-B14F-4D97-AF65-F5344CB8AC3E}">
        <p14:creationId xmlns:p14="http://schemas.microsoft.com/office/powerpoint/2010/main" val="198830909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80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矩形 44">
            <a:extLst>
              <a:ext uri="{FF2B5EF4-FFF2-40B4-BE49-F238E27FC236}">
                <a16:creationId xmlns:a16="http://schemas.microsoft.com/office/drawing/2014/main" id="{D6B874FD-0746-4917-BE4E-412291B48DF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807"/>
          </a:solidFill>
          <a:ln w="0">
            <a:solidFill>
              <a:srgbClr val="05080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826ED48-D046-4D94-BFBB-DEFBBD7F3FC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236E316B-3D53-44B9-88CA-D4FC8C53A71D}"/>
              </a:ext>
            </a:extLst>
          </p:cNvPr>
          <p:cNvSpPr>
            <a:spLocks noGrp="1"/>
          </p:cNvSpPr>
          <p:nvPr/>
        </p:nvSpPr>
        <p:spPr>
          <a:xfrm>
            <a:off x="762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142A5EB3-F1C5-4795-B035-1034AC687AFC}"/>
              </a:ext>
            </a:extLst>
          </p:cNvPr>
          <p:cNvSpPr>
            <a:spLocks noGrp="1"/>
          </p:cNvSpPr>
          <p:nvPr/>
        </p:nvSpPr>
        <p:spPr>
          <a:xfrm>
            <a:off x="1524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3EFC0130-8F63-40E9-A89E-85D9BEE18BE3}"/>
              </a:ext>
            </a:extLst>
          </p:cNvPr>
          <p:cNvSpPr>
            <a:spLocks noGrp="1"/>
          </p:cNvSpPr>
          <p:nvPr/>
        </p:nvSpPr>
        <p:spPr>
          <a:xfrm>
            <a:off x="2286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8E819953-A3EE-48EE-B288-F396B9C57408}"/>
              </a:ext>
            </a:extLst>
          </p:cNvPr>
          <p:cNvSpPr>
            <a:spLocks noGrp="1"/>
          </p:cNvSpPr>
          <p:nvPr/>
        </p:nvSpPr>
        <p:spPr>
          <a:xfrm>
            <a:off x="3048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9C0CD60E-FD60-487D-952D-B46916E43644}"/>
              </a:ext>
            </a:extLst>
          </p:cNvPr>
          <p:cNvSpPr>
            <a:spLocks noGrp="1"/>
          </p:cNvSpPr>
          <p:nvPr/>
        </p:nvSpPr>
        <p:spPr>
          <a:xfrm>
            <a:off x="3810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CC2E7B7B-6A1C-41C2-85AE-3ECB2F77B3C9}"/>
              </a:ext>
            </a:extLst>
          </p:cNvPr>
          <p:cNvSpPr>
            <a:spLocks noGrp="1"/>
          </p:cNvSpPr>
          <p:nvPr/>
        </p:nvSpPr>
        <p:spPr>
          <a:xfrm>
            <a:off x="4572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9098577A-FBBD-4716-B0BA-A98827C43EDF}"/>
              </a:ext>
            </a:extLst>
          </p:cNvPr>
          <p:cNvSpPr>
            <a:spLocks noGrp="1"/>
          </p:cNvSpPr>
          <p:nvPr/>
        </p:nvSpPr>
        <p:spPr>
          <a:xfrm>
            <a:off x="5334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1924585-F4C4-4296-A672-C7E267168620}"/>
              </a:ext>
            </a:extLst>
          </p:cNvPr>
          <p:cNvSpPr>
            <a:spLocks noGrp="1"/>
          </p:cNvSpPr>
          <p:nvPr/>
        </p:nvSpPr>
        <p:spPr>
          <a:xfrm>
            <a:off x="6096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76EBB66C-75C2-4EF8-8217-CDEC09170CBD}"/>
              </a:ext>
            </a:extLst>
          </p:cNvPr>
          <p:cNvSpPr>
            <a:spLocks noGrp="1"/>
          </p:cNvSpPr>
          <p:nvPr/>
        </p:nvSpPr>
        <p:spPr>
          <a:xfrm>
            <a:off x="6858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D9277D62-0F83-4F2E-9234-716E2FEA3B7A}"/>
              </a:ext>
            </a:extLst>
          </p:cNvPr>
          <p:cNvSpPr>
            <a:spLocks noGrp="1"/>
          </p:cNvSpPr>
          <p:nvPr/>
        </p:nvSpPr>
        <p:spPr>
          <a:xfrm>
            <a:off x="7620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E60E8772-BFB1-4009-B9F8-3601C7081D55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BAB8EB4A-083D-49A2-B07E-C298EC8DF290}"/>
              </a:ext>
            </a:extLst>
          </p:cNvPr>
          <p:cNvSpPr>
            <a:spLocks noGrp="1"/>
          </p:cNvSpPr>
          <p:nvPr/>
        </p:nvSpPr>
        <p:spPr>
          <a:xfrm>
            <a:off x="9144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308DD4C4-4D15-4BE5-A221-6C56CA063145}"/>
              </a:ext>
            </a:extLst>
          </p:cNvPr>
          <p:cNvSpPr>
            <a:spLocks noGrp="1"/>
          </p:cNvSpPr>
          <p:nvPr/>
        </p:nvSpPr>
        <p:spPr>
          <a:xfrm>
            <a:off x="9906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6B499D59-F5E5-4865-925B-CEEB20F2B3B8}"/>
              </a:ext>
            </a:extLst>
          </p:cNvPr>
          <p:cNvSpPr>
            <a:spLocks noGrp="1"/>
          </p:cNvSpPr>
          <p:nvPr/>
        </p:nvSpPr>
        <p:spPr>
          <a:xfrm>
            <a:off x="10668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7F1C7784-0B5D-4510-AFE1-00BBEEF42884}"/>
              </a:ext>
            </a:extLst>
          </p:cNvPr>
          <p:cNvSpPr>
            <a:spLocks noGrp="1"/>
          </p:cNvSpPr>
          <p:nvPr/>
        </p:nvSpPr>
        <p:spPr>
          <a:xfrm>
            <a:off x="11430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7E7B1ECE-C068-4676-97FB-9861F5937FC9}"/>
              </a:ext>
            </a:extLst>
          </p:cNvPr>
          <p:cNvSpPr>
            <a:spLocks noGrp="1"/>
          </p:cNvSpPr>
          <p:nvPr/>
        </p:nvSpPr>
        <p:spPr>
          <a:xfrm>
            <a:off x="12192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998433B2-57E5-42D4-A610-4F0392993964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05687115-6B05-470F-A5FC-63537490DEA0}"/>
              </a:ext>
            </a:extLst>
          </p:cNvPr>
          <p:cNvSpPr>
            <a:spLocks noGrp="1"/>
          </p:cNvSpPr>
          <p:nvPr/>
        </p:nvSpPr>
        <p:spPr>
          <a:xfrm>
            <a:off x="0" y="762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DE866D99-63DA-4654-A1B4-8AD141B89D17}"/>
              </a:ext>
            </a:extLst>
          </p:cNvPr>
          <p:cNvSpPr>
            <a:spLocks noGrp="1"/>
          </p:cNvSpPr>
          <p:nvPr/>
        </p:nvSpPr>
        <p:spPr>
          <a:xfrm>
            <a:off x="0" y="1524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5D66FF05-AA6F-42B1-B4FF-AD5410E29AAA}"/>
              </a:ext>
            </a:extLst>
          </p:cNvPr>
          <p:cNvSpPr>
            <a:spLocks noGrp="1"/>
          </p:cNvSpPr>
          <p:nvPr/>
        </p:nvSpPr>
        <p:spPr>
          <a:xfrm>
            <a:off x="0" y="2286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A36AC656-FB0B-4452-BF90-5280DA710810}"/>
              </a:ext>
            </a:extLst>
          </p:cNvPr>
          <p:cNvSpPr>
            <a:spLocks noGrp="1"/>
          </p:cNvSpPr>
          <p:nvPr/>
        </p:nvSpPr>
        <p:spPr>
          <a:xfrm>
            <a:off x="0" y="3048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D77C762-92F8-4945-94E4-2A006F759AEB}"/>
              </a:ext>
            </a:extLst>
          </p:cNvPr>
          <p:cNvSpPr>
            <a:spLocks noGrp="1"/>
          </p:cNvSpPr>
          <p:nvPr/>
        </p:nvSpPr>
        <p:spPr>
          <a:xfrm>
            <a:off x="0" y="3810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7010B12E-486C-48E9-A4C5-8A3B338CC700}"/>
              </a:ext>
            </a:extLst>
          </p:cNvPr>
          <p:cNvSpPr>
            <a:spLocks noGrp="1"/>
          </p:cNvSpPr>
          <p:nvPr/>
        </p:nvSpPr>
        <p:spPr>
          <a:xfrm>
            <a:off x="0" y="4572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178DD098-21FE-4055-A2AF-FF8F5668E4D6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1D5AD275-B382-4F35-A1ED-2363D91B907A}"/>
              </a:ext>
            </a:extLst>
          </p:cNvPr>
          <p:cNvSpPr>
            <a:spLocks noGrp="1"/>
          </p:cNvSpPr>
          <p:nvPr/>
        </p:nvSpPr>
        <p:spPr>
          <a:xfrm>
            <a:off x="0" y="6096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28D0024B-6A25-414B-92CB-8B0C20146B68}"/>
              </a:ext>
            </a:extLst>
          </p:cNvPr>
          <p:cNvSpPr>
            <a:spLocks noGrp="1"/>
          </p:cNvSpPr>
          <p:nvPr/>
        </p:nvSpPr>
        <p:spPr>
          <a:xfrm>
            <a:off x="0" y="6858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DB088FC-2147-4637-BD89-B9E340D4C37E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A3FF7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C9615EC-FCC4-41C6-9D6E-79482914433E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95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EEF8F2"/>
                </a:solidFill>
              </a:defRPr>
            </a:pPr>
            <a:r>
              <a:rPr sz="1125" b="1">
                <a:solidFill>
                  <a:srgbClr val="EEF8F2"/>
                </a:solidFill>
              </a:rPr>
              <a:t>Traction &amp; Validation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1597DECF-E28B-40E5-8FBA-F6DED3BBD74F}"/>
              </a:ext>
            </a:extLst>
          </p:cNvPr>
          <p:cNvSpPr>
            <a:spLocks noGrp="1"/>
          </p:cNvSpPr>
          <p:nvPr/>
        </p:nvSpPr>
        <p:spPr>
          <a:xfrm>
            <a:off x="11049000" y="266700"/>
            <a:ext cx="533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1">
                <a:solidFill>
                  <a:srgbClr val="A6B8AF"/>
                </a:solidFill>
              </a:defRPr>
            </a:pPr>
            <a:r>
              <a:rPr sz="1050" b="1">
                <a:solidFill>
                  <a:srgbClr val="A6B8AF"/>
                </a:solidFill>
              </a:rPr>
              <a:t>08</a:t>
            </a:r>
          </a:p>
        </p:txBody>
      </p:sp>
      <p:sp>
        <p:nvSpPr>
          <p:cNvPr id="32" name="矩形 31">
            <a:extLst>
              <a:ext uri="{FF2B5EF4-FFF2-40B4-BE49-F238E27FC236}">
                <a16:creationId xmlns:a16="http://schemas.microsoft.com/office/drawing/2014/main" id="{D98488DA-B249-415A-820C-C56D177F6588}"/>
              </a:ext>
            </a:extLst>
          </p:cNvPr>
          <p:cNvSpPr>
            <a:spLocks noGrp="1"/>
          </p:cNvSpPr>
          <p:nvPr/>
        </p:nvSpPr>
        <p:spPr>
          <a:xfrm>
            <a:off x="685800" y="914400"/>
            <a:ext cx="8953500" cy="1066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3300" b="1">
                <a:solidFill>
                  <a:srgbClr val="EEF8F2"/>
                </a:solidFill>
              </a:defRPr>
            </a:pPr>
            <a:r>
              <a:rPr sz="3300" b="1">
                <a:solidFill>
                  <a:srgbClr val="EEF8F2"/>
                </a:solidFill>
              </a:rPr>
              <a:t>Working prototype, tested against the key edge cases</a:t>
            </a:r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7CCBD55A-1C1D-478D-8334-B57CB8E7A2E1}"/>
              </a:ext>
            </a:extLst>
          </p:cNvPr>
          <p:cNvSpPr>
            <a:spLocks noGrp="1"/>
          </p:cNvSpPr>
          <p:nvPr/>
        </p:nvSpPr>
        <p:spPr>
          <a:xfrm>
            <a:off x="723900" y="2095500"/>
            <a:ext cx="7429500" cy="6096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A6B8AF"/>
                </a:solidFill>
              </a:defRPr>
            </a:pPr>
            <a:r>
              <a:rPr sz="1650" b="0">
                <a:solidFill>
                  <a:srgbClr val="A6B8AF"/>
                </a:solidFill>
              </a:rPr>
              <a:t>We validated the product logic against exact, screenshot, edited, and unknown images.</a:t>
            </a:r>
          </a:p>
        </p:txBody>
      </p:sp>
      <p:sp>
        <p:nvSpPr>
          <p:cNvPr id="34" name="橢圓 33">
            <a:extLst>
              <a:ext uri="{FF2B5EF4-FFF2-40B4-BE49-F238E27FC236}">
                <a16:creationId xmlns:a16="http://schemas.microsoft.com/office/drawing/2014/main" id="{7547526D-3A65-416A-95F8-B11D71736CB4}"/>
              </a:ext>
            </a:extLst>
          </p:cNvPr>
          <p:cNvSpPr>
            <a:spLocks noGrp="1"/>
          </p:cNvSpPr>
          <p:nvPr/>
        </p:nvSpPr>
        <p:spPr>
          <a:xfrm>
            <a:off x="876300" y="3143250"/>
            <a:ext cx="114300" cy="114300"/>
          </a:xfrm>
          <a:prstGeom prst="ellipse">
            <a:avLst/>
          </a:prstGeom>
          <a:solidFill>
            <a:srgbClr val="A3FF7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18BCC034-124C-44B8-9A52-CA243B786018}"/>
              </a:ext>
            </a:extLst>
          </p:cNvPr>
          <p:cNvSpPr>
            <a:spLocks noGrp="1"/>
          </p:cNvSpPr>
          <p:nvPr/>
        </p:nvSpPr>
        <p:spPr>
          <a:xfrm>
            <a:off x="1181100" y="3028950"/>
            <a:ext cx="7429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EEF8F2"/>
                </a:solidFill>
              </a:defRPr>
            </a:pPr>
            <a:r>
              <a:rPr sz="1650" b="0">
                <a:solidFill>
                  <a:srgbClr val="EEF8F2"/>
                </a:solidFill>
              </a:rPr>
              <a:t>Live Vercel prototype with Firebase-backed persistence.</a:t>
            </a:r>
          </a:p>
        </p:txBody>
      </p:sp>
      <p:sp>
        <p:nvSpPr>
          <p:cNvPr id="36" name="橢圓 35">
            <a:extLst>
              <a:ext uri="{FF2B5EF4-FFF2-40B4-BE49-F238E27FC236}">
                <a16:creationId xmlns:a16="http://schemas.microsoft.com/office/drawing/2014/main" id="{03E81BAF-F7FA-40E8-A5F5-6A84B7AAACAF}"/>
              </a:ext>
            </a:extLst>
          </p:cNvPr>
          <p:cNvSpPr>
            <a:spLocks noGrp="1"/>
          </p:cNvSpPr>
          <p:nvPr/>
        </p:nvSpPr>
        <p:spPr>
          <a:xfrm>
            <a:off x="876300" y="3657600"/>
            <a:ext cx="114300" cy="114300"/>
          </a:xfrm>
          <a:prstGeom prst="ellipse">
            <a:avLst/>
          </a:prstGeom>
          <a:solidFill>
            <a:srgbClr val="6EE7D8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43A8CDED-A8A7-4585-BAA2-76A0FCF0CAB6}"/>
              </a:ext>
            </a:extLst>
          </p:cNvPr>
          <p:cNvSpPr>
            <a:spLocks noGrp="1"/>
          </p:cNvSpPr>
          <p:nvPr/>
        </p:nvSpPr>
        <p:spPr>
          <a:xfrm>
            <a:off x="1181100" y="3543300"/>
            <a:ext cx="7429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EEF8F2"/>
                </a:solidFill>
              </a:defRPr>
            </a:pPr>
            <a:r>
              <a:rPr sz="1650" b="0">
                <a:solidFill>
                  <a:srgbClr val="EEF8F2"/>
                </a:solidFill>
              </a:rPr>
              <a:t>Regression tests for real cropped screenshot recovery and changed-copy risk.</a:t>
            </a:r>
          </a:p>
        </p:txBody>
      </p:sp>
      <p:sp>
        <p:nvSpPr>
          <p:cNvPr id="38" name="橢圓 37">
            <a:extLst>
              <a:ext uri="{FF2B5EF4-FFF2-40B4-BE49-F238E27FC236}">
                <a16:creationId xmlns:a16="http://schemas.microsoft.com/office/drawing/2014/main" id="{85A6F1EA-DF32-4129-AA44-D69803ACA0AF}"/>
              </a:ext>
            </a:extLst>
          </p:cNvPr>
          <p:cNvSpPr>
            <a:spLocks noGrp="1"/>
          </p:cNvSpPr>
          <p:nvPr/>
        </p:nvSpPr>
        <p:spPr>
          <a:xfrm>
            <a:off x="876300" y="4171950"/>
            <a:ext cx="114300" cy="114300"/>
          </a:xfrm>
          <a:prstGeom prst="ellipse">
            <a:avLst/>
          </a:prstGeom>
          <a:solidFill>
            <a:srgbClr val="6EE7D8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5E9F850C-4995-453E-BE85-5331DB226AE1}"/>
              </a:ext>
            </a:extLst>
          </p:cNvPr>
          <p:cNvSpPr>
            <a:spLocks noGrp="1"/>
          </p:cNvSpPr>
          <p:nvPr/>
        </p:nvSpPr>
        <p:spPr>
          <a:xfrm>
            <a:off x="1181100" y="4057650"/>
            <a:ext cx="7429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EEF8F2"/>
                </a:solidFill>
              </a:defRPr>
            </a:pPr>
            <a:r>
              <a:rPr sz="1650" b="0">
                <a:solidFill>
                  <a:srgbClr val="EEF8F2"/>
                </a:solidFill>
              </a:rPr>
              <a:t>Fixture checks cover original, screenshot/repost, edited copy, and unknown image.</a:t>
            </a:r>
          </a:p>
        </p:txBody>
      </p:sp>
      <p:sp>
        <p:nvSpPr>
          <p:cNvPr id="40" name="橢圓 39">
            <a:extLst>
              <a:ext uri="{FF2B5EF4-FFF2-40B4-BE49-F238E27FC236}">
                <a16:creationId xmlns:a16="http://schemas.microsoft.com/office/drawing/2014/main" id="{129CA00B-B48E-4D2A-AC8E-D6C59E313CE5}"/>
              </a:ext>
            </a:extLst>
          </p:cNvPr>
          <p:cNvSpPr>
            <a:spLocks noGrp="1"/>
          </p:cNvSpPr>
          <p:nvPr/>
        </p:nvSpPr>
        <p:spPr>
          <a:xfrm>
            <a:off x="876300" y="4686300"/>
            <a:ext cx="114300" cy="114300"/>
          </a:xfrm>
          <a:prstGeom prst="ellipse">
            <a:avLst/>
          </a:prstGeom>
          <a:solidFill>
            <a:srgbClr val="6EE7D8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1" name="矩形 40">
            <a:extLst>
              <a:ext uri="{FF2B5EF4-FFF2-40B4-BE49-F238E27FC236}">
                <a16:creationId xmlns:a16="http://schemas.microsoft.com/office/drawing/2014/main" id="{9BE72269-C84A-41B8-BEED-F1C367D4DF77}"/>
              </a:ext>
            </a:extLst>
          </p:cNvPr>
          <p:cNvSpPr>
            <a:spLocks noGrp="1"/>
          </p:cNvSpPr>
          <p:nvPr/>
        </p:nvSpPr>
        <p:spPr>
          <a:xfrm>
            <a:off x="1181100" y="4572000"/>
            <a:ext cx="7429500" cy="4381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650" b="0">
                <a:solidFill>
                  <a:srgbClr val="EEF8F2"/>
                </a:solidFill>
              </a:defRPr>
            </a:pPr>
            <a:r>
              <a:rPr sz="1650" b="0">
                <a:solidFill>
                  <a:srgbClr val="EEF8F2"/>
                </a:solidFill>
              </a:rPr>
              <a:t>Next validation: interviews with clubs, event teams, and small publishers.</a:t>
            </a:r>
          </a:p>
        </p:txBody>
      </p:sp>
      <p:sp>
        <p:nvSpPr>
          <p:cNvPr id="42" name="矩形: 圓角 41">
            <a:extLst>
              <a:ext uri="{FF2B5EF4-FFF2-40B4-BE49-F238E27FC236}">
                <a16:creationId xmlns:a16="http://schemas.microsoft.com/office/drawing/2014/main" id="{F0CA3A1D-D640-468A-9AB1-A1F4EBBD3F27}"/>
              </a:ext>
            </a:extLst>
          </p:cNvPr>
          <p:cNvSpPr>
            <a:spLocks noGrp="1"/>
          </p:cNvSpPr>
          <p:nvPr/>
        </p:nvSpPr>
        <p:spPr>
          <a:xfrm>
            <a:off x="8915400" y="2971800"/>
            <a:ext cx="2171700" cy="1924050"/>
          </a:xfrm>
          <a:prstGeom prst="roundRect">
            <a:avLst>
              <a:gd name="adj" fmla="val 3960"/>
            </a:avLst>
          </a:prstGeom>
          <a:solidFill>
            <a:srgbClr val="6EE7D8">
              <a:alpha val="10000"/>
            </a:srgbClr>
          </a:solidFill>
          <a:ln w="9525">
            <a:solidFill>
              <a:srgbClr val="6EE7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3" name="矩形 42">
            <a:extLst>
              <a:ext uri="{FF2B5EF4-FFF2-40B4-BE49-F238E27FC236}">
                <a16:creationId xmlns:a16="http://schemas.microsoft.com/office/drawing/2014/main" id="{90614FDB-564A-4053-A760-A10C0ABB59AA}"/>
              </a:ext>
            </a:extLst>
          </p:cNvPr>
          <p:cNvSpPr>
            <a:spLocks noGrp="1"/>
          </p:cNvSpPr>
          <p:nvPr/>
        </p:nvSpPr>
        <p:spPr>
          <a:xfrm>
            <a:off x="9182100" y="3295650"/>
            <a:ext cx="1638300" cy="5143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650" b="1">
                <a:solidFill>
                  <a:srgbClr val="6EE7D8"/>
                </a:solidFill>
              </a:defRPr>
            </a:pPr>
            <a:r>
              <a:rPr sz="1650" b="1">
                <a:solidFill>
                  <a:srgbClr val="6EE7D8"/>
                </a:solidFill>
              </a:rPr>
              <a:t>Judge-ready checks</a:t>
            </a:r>
          </a:p>
        </p:txBody>
      </p:sp>
      <p:sp>
        <p:nvSpPr>
          <p:cNvPr id="44" name="矩形 43">
            <a:extLst>
              <a:ext uri="{FF2B5EF4-FFF2-40B4-BE49-F238E27FC236}">
                <a16:creationId xmlns:a16="http://schemas.microsoft.com/office/drawing/2014/main" id="{40E8F6B6-A05E-4309-B8D9-87E57914C398}"/>
              </a:ext>
            </a:extLst>
          </p:cNvPr>
          <p:cNvSpPr>
            <a:spLocks noGrp="1"/>
          </p:cNvSpPr>
          <p:nvPr/>
        </p:nvSpPr>
        <p:spPr>
          <a:xfrm>
            <a:off x="9334500" y="4000500"/>
            <a:ext cx="1333500" cy="723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00" b="0">
                <a:solidFill>
                  <a:srgbClr val="EEF8F2"/>
                </a:solidFill>
              </a:defRPr>
            </a:pPr>
            <a:r>
              <a:rPr sz="1200" b="0">
                <a:solidFill>
                  <a:srgbClr val="EEF8F2"/>
                </a:solidFill>
              </a:rPr>
              <a:t>works live</a:t>
            </a:r>
          </a:p>
          <a:p>
            <a:pPr algn="ctr">
              <a:defRPr sz="1200" b="0">
                <a:solidFill>
                  <a:srgbClr val="EEF8F2"/>
                </a:solidFill>
              </a:defRPr>
            </a:pPr>
            <a:r>
              <a:rPr sz="1200" b="0">
                <a:solidFill>
                  <a:srgbClr val="EEF8F2"/>
                </a:solidFill>
              </a:rPr>
              <a:t>clear user</a:t>
            </a:r>
          </a:p>
          <a:p>
            <a:pPr algn="ctr">
              <a:defRPr sz="1200" b="0">
                <a:solidFill>
                  <a:srgbClr val="EEF8F2"/>
                </a:solidFill>
              </a:defRPr>
            </a:pPr>
            <a:r>
              <a:rPr sz="1200" b="0">
                <a:solidFill>
                  <a:srgbClr val="EEF8F2"/>
                </a:solidFill>
              </a:rPr>
              <a:t>clear bottleneck</a:t>
            </a:r>
          </a:p>
          <a:p>
            <a:pPr algn="ctr">
              <a:defRPr sz="1200" b="0">
                <a:solidFill>
                  <a:srgbClr val="EEF8F2"/>
                </a:solidFill>
              </a:defRPr>
            </a:pPr>
            <a:r>
              <a:rPr sz="1200" b="0">
                <a:solidFill>
                  <a:srgbClr val="EEF8F2"/>
                </a:solidFill>
              </a:rPr>
              <a:t>clear value</a:t>
            </a:r>
          </a:p>
        </p:txBody>
      </p:sp>
    </p:spTree>
    <p:extLst>
      <p:ext uri="{BB962C8B-B14F-4D97-AF65-F5344CB8AC3E}">
        <p14:creationId xmlns:p14="http://schemas.microsoft.com/office/powerpoint/2010/main" val="14226390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50807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矩形 39">
            <a:extLst>
              <a:ext uri="{FF2B5EF4-FFF2-40B4-BE49-F238E27FC236}">
                <a16:creationId xmlns:a16="http://schemas.microsoft.com/office/drawing/2014/main" id="{4EBCBDD8-FA8E-4451-87F4-058F2B387B89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6858000"/>
          </a:xfrm>
          <a:prstGeom prst="rect">
            <a:avLst/>
          </a:prstGeom>
          <a:solidFill>
            <a:srgbClr val="050807"/>
          </a:solidFill>
          <a:ln w="0">
            <a:solidFill>
              <a:srgbClr val="05080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" name="矩形 1">
            <a:extLst>
              <a:ext uri="{FF2B5EF4-FFF2-40B4-BE49-F238E27FC236}">
                <a16:creationId xmlns:a16="http://schemas.microsoft.com/office/drawing/2014/main" id="{B64E2750-A1B8-4C4F-9189-364CF71F9E7D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5AB91D8C-E7AF-4046-8678-200A3D0A3473}"/>
              </a:ext>
            </a:extLst>
          </p:cNvPr>
          <p:cNvSpPr>
            <a:spLocks noGrp="1"/>
          </p:cNvSpPr>
          <p:nvPr/>
        </p:nvSpPr>
        <p:spPr>
          <a:xfrm>
            <a:off x="762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6D065727-F504-4458-9264-2FF7150250BF}"/>
              </a:ext>
            </a:extLst>
          </p:cNvPr>
          <p:cNvSpPr>
            <a:spLocks noGrp="1"/>
          </p:cNvSpPr>
          <p:nvPr/>
        </p:nvSpPr>
        <p:spPr>
          <a:xfrm>
            <a:off x="1524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矩形 4">
            <a:extLst>
              <a:ext uri="{FF2B5EF4-FFF2-40B4-BE49-F238E27FC236}">
                <a16:creationId xmlns:a16="http://schemas.microsoft.com/office/drawing/2014/main" id="{8CE7C07A-060F-4B46-A2A1-7E53421190B4}"/>
              </a:ext>
            </a:extLst>
          </p:cNvPr>
          <p:cNvSpPr>
            <a:spLocks noGrp="1"/>
          </p:cNvSpPr>
          <p:nvPr/>
        </p:nvSpPr>
        <p:spPr>
          <a:xfrm>
            <a:off x="2286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65997673-9E60-4087-8F40-26DD511B32EF}"/>
              </a:ext>
            </a:extLst>
          </p:cNvPr>
          <p:cNvSpPr>
            <a:spLocks noGrp="1"/>
          </p:cNvSpPr>
          <p:nvPr/>
        </p:nvSpPr>
        <p:spPr>
          <a:xfrm>
            <a:off x="3048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2F173FD4-C0C0-457E-94AD-D2EB66B5B4A7}"/>
              </a:ext>
            </a:extLst>
          </p:cNvPr>
          <p:cNvSpPr>
            <a:spLocks noGrp="1"/>
          </p:cNvSpPr>
          <p:nvPr/>
        </p:nvSpPr>
        <p:spPr>
          <a:xfrm>
            <a:off x="3810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F8CA194-3AD5-49C1-AC10-2BFA1DBAE21E}"/>
              </a:ext>
            </a:extLst>
          </p:cNvPr>
          <p:cNvSpPr>
            <a:spLocks noGrp="1"/>
          </p:cNvSpPr>
          <p:nvPr/>
        </p:nvSpPr>
        <p:spPr>
          <a:xfrm>
            <a:off x="4572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303FA7CA-E22D-4305-8AC6-DAA782E836BF}"/>
              </a:ext>
            </a:extLst>
          </p:cNvPr>
          <p:cNvSpPr>
            <a:spLocks noGrp="1"/>
          </p:cNvSpPr>
          <p:nvPr/>
        </p:nvSpPr>
        <p:spPr>
          <a:xfrm>
            <a:off x="5334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A0CE34DD-6021-49BE-A5DB-0D608F16D6D6}"/>
              </a:ext>
            </a:extLst>
          </p:cNvPr>
          <p:cNvSpPr>
            <a:spLocks noGrp="1"/>
          </p:cNvSpPr>
          <p:nvPr/>
        </p:nvSpPr>
        <p:spPr>
          <a:xfrm>
            <a:off x="6096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F2C2DE66-A2D2-4E1A-8571-B79020535A80}"/>
              </a:ext>
            </a:extLst>
          </p:cNvPr>
          <p:cNvSpPr>
            <a:spLocks noGrp="1"/>
          </p:cNvSpPr>
          <p:nvPr/>
        </p:nvSpPr>
        <p:spPr>
          <a:xfrm>
            <a:off x="6858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6D4F71ED-A6F0-48E0-A53E-4D5C9703819E}"/>
              </a:ext>
            </a:extLst>
          </p:cNvPr>
          <p:cNvSpPr>
            <a:spLocks noGrp="1"/>
          </p:cNvSpPr>
          <p:nvPr/>
        </p:nvSpPr>
        <p:spPr>
          <a:xfrm>
            <a:off x="7620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矩形 12">
            <a:extLst>
              <a:ext uri="{FF2B5EF4-FFF2-40B4-BE49-F238E27FC236}">
                <a16:creationId xmlns:a16="http://schemas.microsoft.com/office/drawing/2014/main" id="{0FD66F0D-F76E-4EAB-9D10-5A7A60776A07}"/>
              </a:ext>
            </a:extLst>
          </p:cNvPr>
          <p:cNvSpPr>
            <a:spLocks noGrp="1"/>
          </p:cNvSpPr>
          <p:nvPr/>
        </p:nvSpPr>
        <p:spPr>
          <a:xfrm>
            <a:off x="8382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3946562-0B3F-47F4-B41D-160FB3733AD7}"/>
              </a:ext>
            </a:extLst>
          </p:cNvPr>
          <p:cNvSpPr>
            <a:spLocks noGrp="1"/>
          </p:cNvSpPr>
          <p:nvPr/>
        </p:nvSpPr>
        <p:spPr>
          <a:xfrm>
            <a:off x="9144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矩形 14">
            <a:extLst>
              <a:ext uri="{FF2B5EF4-FFF2-40B4-BE49-F238E27FC236}">
                <a16:creationId xmlns:a16="http://schemas.microsoft.com/office/drawing/2014/main" id="{AEE91B94-BD71-48DA-A447-1EB1950D322D}"/>
              </a:ext>
            </a:extLst>
          </p:cNvPr>
          <p:cNvSpPr>
            <a:spLocks noGrp="1"/>
          </p:cNvSpPr>
          <p:nvPr/>
        </p:nvSpPr>
        <p:spPr>
          <a:xfrm>
            <a:off x="9906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997B785A-1F8A-451E-9CEF-D50485405488}"/>
              </a:ext>
            </a:extLst>
          </p:cNvPr>
          <p:cNvSpPr>
            <a:spLocks noGrp="1"/>
          </p:cNvSpPr>
          <p:nvPr/>
        </p:nvSpPr>
        <p:spPr>
          <a:xfrm>
            <a:off x="10668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矩形 16">
            <a:extLst>
              <a:ext uri="{FF2B5EF4-FFF2-40B4-BE49-F238E27FC236}">
                <a16:creationId xmlns:a16="http://schemas.microsoft.com/office/drawing/2014/main" id="{1AD88178-EB09-4645-B072-F7073CCC3F46}"/>
              </a:ext>
            </a:extLst>
          </p:cNvPr>
          <p:cNvSpPr>
            <a:spLocks noGrp="1"/>
          </p:cNvSpPr>
          <p:nvPr/>
        </p:nvSpPr>
        <p:spPr>
          <a:xfrm>
            <a:off x="11430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28E19C93-DAA5-415F-8C63-36D1ACF9A59E}"/>
              </a:ext>
            </a:extLst>
          </p:cNvPr>
          <p:cNvSpPr>
            <a:spLocks noGrp="1"/>
          </p:cNvSpPr>
          <p:nvPr/>
        </p:nvSpPr>
        <p:spPr>
          <a:xfrm>
            <a:off x="12192000" y="0"/>
            <a:ext cx="9525" cy="6858000"/>
          </a:xfrm>
          <a:prstGeom prst="rect">
            <a:avLst/>
          </a:prstGeom>
          <a:solidFill>
            <a:srgbClr val="6EE7D8">
              <a:alpha val="5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矩形 18">
            <a:extLst>
              <a:ext uri="{FF2B5EF4-FFF2-40B4-BE49-F238E27FC236}">
                <a16:creationId xmlns:a16="http://schemas.microsoft.com/office/drawing/2014/main" id="{C8815459-14CC-47E0-BC39-7A0CE99E1312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5B92BF88-8570-42BB-8D2B-AFEBADE19E22}"/>
              </a:ext>
            </a:extLst>
          </p:cNvPr>
          <p:cNvSpPr>
            <a:spLocks noGrp="1"/>
          </p:cNvSpPr>
          <p:nvPr/>
        </p:nvSpPr>
        <p:spPr>
          <a:xfrm>
            <a:off x="0" y="762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矩形 20">
            <a:extLst>
              <a:ext uri="{FF2B5EF4-FFF2-40B4-BE49-F238E27FC236}">
                <a16:creationId xmlns:a16="http://schemas.microsoft.com/office/drawing/2014/main" id="{22CF1096-6269-44A6-9D5A-5FBD3193648F}"/>
              </a:ext>
            </a:extLst>
          </p:cNvPr>
          <p:cNvSpPr>
            <a:spLocks noGrp="1"/>
          </p:cNvSpPr>
          <p:nvPr/>
        </p:nvSpPr>
        <p:spPr>
          <a:xfrm>
            <a:off x="0" y="1524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矩形 21">
            <a:extLst>
              <a:ext uri="{FF2B5EF4-FFF2-40B4-BE49-F238E27FC236}">
                <a16:creationId xmlns:a16="http://schemas.microsoft.com/office/drawing/2014/main" id="{4B9AE0DB-F8C0-4E06-B5B2-BC6DF6895F07}"/>
              </a:ext>
            </a:extLst>
          </p:cNvPr>
          <p:cNvSpPr>
            <a:spLocks noGrp="1"/>
          </p:cNvSpPr>
          <p:nvPr/>
        </p:nvSpPr>
        <p:spPr>
          <a:xfrm>
            <a:off x="0" y="2286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矩形 22">
            <a:extLst>
              <a:ext uri="{FF2B5EF4-FFF2-40B4-BE49-F238E27FC236}">
                <a16:creationId xmlns:a16="http://schemas.microsoft.com/office/drawing/2014/main" id="{D4E9A721-1831-417D-BE3E-E218D021CB90}"/>
              </a:ext>
            </a:extLst>
          </p:cNvPr>
          <p:cNvSpPr>
            <a:spLocks noGrp="1"/>
          </p:cNvSpPr>
          <p:nvPr/>
        </p:nvSpPr>
        <p:spPr>
          <a:xfrm>
            <a:off x="0" y="3048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E598E2C5-2312-4091-911B-C5E2D65F1A24}"/>
              </a:ext>
            </a:extLst>
          </p:cNvPr>
          <p:cNvSpPr>
            <a:spLocks noGrp="1"/>
          </p:cNvSpPr>
          <p:nvPr/>
        </p:nvSpPr>
        <p:spPr>
          <a:xfrm>
            <a:off x="0" y="3810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295E4EC4-1B56-42B5-A32A-5C9DD6295052}"/>
              </a:ext>
            </a:extLst>
          </p:cNvPr>
          <p:cNvSpPr>
            <a:spLocks noGrp="1"/>
          </p:cNvSpPr>
          <p:nvPr/>
        </p:nvSpPr>
        <p:spPr>
          <a:xfrm>
            <a:off x="0" y="4572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D6652C7C-AF85-4AF5-8E17-77C5E87205C6}"/>
              </a:ext>
            </a:extLst>
          </p:cNvPr>
          <p:cNvSpPr>
            <a:spLocks noGrp="1"/>
          </p:cNvSpPr>
          <p:nvPr/>
        </p:nvSpPr>
        <p:spPr>
          <a:xfrm>
            <a:off x="0" y="5334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125E5F80-94D9-408E-980E-588775F46055}"/>
              </a:ext>
            </a:extLst>
          </p:cNvPr>
          <p:cNvSpPr>
            <a:spLocks noGrp="1"/>
          </p:cNvSpPr>
          <p:nvPr/>
        </p:nvSpPr>
        <p:spPr>
          <a:xfrm>
            <a:off x="0" y="6096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矩形 27">
            <a:extLst>
              <a:ext uri="{FF2B5EF4-FFF2-40B4-BE49-F238E27FC236}">
                <a16:creationId xmlns:a16="http://schemas.microsoft.com/office/drawing/2014/main" id="{1C9407EB-F3D1-4AB5-8580-5832DFC69FE4}"/>
              </a:ext>
            </a:extLst>
          </p:cNvPr>
          <p:cNvSpPr>
            <a:spLocks noGrp="1"/>
          </p:cNvSpPr>
          <p:nvPr/>
        </p:nvSpPr>
        <p:spPr>
          <a:xfrm>
            <a:off x="0" y="6858000"/>
            <a:ext cx="12192000" cy="9525"/>
          </a:xfrm>
          <a:prstGeom prst="rect">
            <a:avLst/>
          </a:prstGeom>
          <a:solidFill>
            <a:srgbClr val="6EE7D8">
              <a:alpha val="4500"/>
            </a:srgbClr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F29E0D66-05E8-4756-B701-8CB8EF382E98}"/>
              </a:ext>
            </a:extLst>
          </p:cNvPr>
          <p:cNvSpPr>
            <a:spLocks noGrp="1"/>
          </p:cNvSpPr>
          <p:nvPr/>
        </p:nvSpPr>
        <p:spPr>
          <a:xfrm>
            <a:off x="0" y="0"/>
            <a:ext cx="12192000" cy="76200"/>
          </a:xfrm>
          <a:prstGeom prst="rect">
            <a:avLst/>
          </a:prstGeom>
          <a:solidFill>
            <a:srgbClr val="A3FF7A"/>
          </a:solidFill>
          <a:ln w="0">
            <a:noFill/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57029DCB-2F91-48F5-85A5-71191472700E}"/>
              </a:ext>
            </a:extLst>
          </p:cNvPr>
          <p:cNvSpPr>
            <a:spLocks noGrp="1"/>
          </p:cNvSpPr>
          <p:nvPr/>
        </p:nvSpPr>
        <p:spPr>
          <a:xfrm>
            <a:off x="609600" y="266700"/>
            <a:ext cx="49530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1125" b="1">
                <a:solidFill>
                  <a:srgbClr val="EEF8F2"/>
                </a:solidFill>
              </a:defRPr>
            </a:pPr>
            <a:r>
              <a:rPr sz="1125" b="1">
                <a:solidFill>
                  <a:srgbClr val="EEF8F2"/>
                </a:solidFill>
              </a:rPr>
              <a:t>Close</a:t>
            </a: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20825440-637F-49BB-9498-8405603469FE}"/>
              </a:ext>
            </a:extLst>
          </p:cNvPr>
          <p:cNvSpPr>
            <a:spLocks noGrp="1"/>
          </p:cNvSpPr>
          <p:nvPr/>
        </p:nvSpPr>
        <p:spPr>
          <a:xfrm>
            <a:off x="11049000" y="266700"/>
            <a:ext cx="533400" cy="266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r">
              <a:defRPr sz="1050" b="1">
                <a:solidFill>
                  <a:srgbClr val="A6B8AF"/>
                </a:solidFill>
              </a:defRPr>
            </a:pPr>
            <a:r>
              <a:rPr sz="1050" b="1">
                <a:solidFill>
                  <a:srgbClr val="A6B8AF"/>
                </a:solidFill>
              </a:rPr>
              <a:t>09</a:t>
            </a:r>
          </a:p>
        </p:txBody>
      </p:sp>
      <p:sp>
        <p:nvSpPr>
          <p:cNvPr id="32" name="矩形: 圓角 31">
            <a:extLst>
              <a:ext uri="{FF2B5EF4-FFF2-40B4-BE49-F238E27FC236}">
                <a16:creationId xmlns:a16="http://schemas.microsoft.com/office/drawing/2014/main" id="{66013897-E403-4921-942D-8BF8C625184D}"/>
              </a:ext>
            </a:extLst>
          </p:cNvPr>
          <p:cNvSpPr>
            <a:spLocks noGrp="1"/>
          </p:cNvSpPr>
          <p:nvPr/>
        </p:nvSpPr>
        <p:spPr>
          <a:xfrm>
            <a:off x="685800" y="990600"/>
            <a:ext cx="1143000" cy="323850"/>
          </a:xfrm>
          <a:prstGeom prst="roundRect">
            <a:avLst>
              <a:gd name="adj" fmla="val 23529"/>
            </a:avLst>
          </a:prstGeom>
          <a:solidFill>
            <a:srgbClr val="6EE7D8">
              <a:alpha val="12000"/>
            </a:srgbClr>
          </a:solidFill>
          <a:ln w="9525">
            <a:solidFill>
              <a:srgbClr val="A3FF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矩形 32">
            <a:extLst>
              <a:ext uri="{FF2B5EF4-FFF2-40B4-BE49-F238E27FC236}">
                <a16:creationId xmlns:a16="http://schemas.microsoft.com/office/drawing/2014/main" id="{9D7AA52E-82E3-4301-AC27-7733E8C90488}"/>
              </a:ext>
            </a:extLst>
          </p:cNvPr>
          <p:cNvSpPr>
            <a:spLocks noGrp="1"/>
          </p:cNvSpPr>
          <p:nvPr/>
        </p:nvSpPr>
        <p:spPr>
          <a:xfrm>
            <a:off x="819150" y="1057275"/>
            <a:ext cx="876300" cy="1905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900" b="1">
                <a:solidFill>
                  <a:srgbClr val="A3FF7A"/>
                </a:solidFill>
              </a:defRPr>
            </a:pPr>
            <a:r>
              <a:rPr sz="900" b="1">
                <a:solidFill>
                  <a:srgbClr val="A3FF7A"/>
                </a:solidFill>
              </a:rPr>
              <a:t>LIVE SITE</a:t>
            </a:r>
          </a:p>
        </p:txBody>
      </p:sp>
      <p:sp>
        <p:nvSpPr>
          <p:cNvPr id="34" name="矩形 33">
            <a:extLst>
              <a:ext uri="{FF2B5EF4-FFF2-40B4-BE49-F238E27FC236}">
                <a16:creationId xmlns:a16="http://schemas.microsoft.com/office/drawing/2014/main" id="{FA3626CA-3C7D-4ECE-90E6-0A65F0675968}"/>
              </a:ext>
            </a:extLst>
          </p:cNvPr>
          <p:cNvSpPr>
            <a:spLocks noGrp="1"/>
          </p:cNvSpPr>
          <p:nvPr/>
        </p:nvSpPr>
        <p:spPr>
          <a:xfrm>
            <a:off x="685800" y="1657350"/>
            <a:ext cx="5143500" cy="6858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4200" b="1">
                <a:solidFill>
                  <a:srgbClr val="EEF8F2"/>
                </a:solidFill>
              </a:defRPr>
            </a:pPr>
            <a:r>
              <a:rPr sz="4200" b="1">
                <a:solidFill>
                  <a:srgbClr val="EEF8F2"/>
                </a:solidFill>
              </a:rPr>
              <a:t>ContentSeal</a:t>
            </a:r>
          </a:p>
        </p:txBody>
      </p:sp>
      <p:sp>
        <p:nvSpPr>
          <p:cNvPr id="35" name="矩形 34">
            <a:extLst>
              <a:ext uri="{FF2B5EF4-FFF2-40B4-BE49-F238E27FC236}">
                <a16:creationId xmlns:a16="http://schemas.microsoft.com/office/drawing/2014/main" id="{7C527FB5-B4E1-4BA0-A857-80D0869BA17A}"/>
              </a:ext>
            </a:extLst>
          </p:cNvPr>
          <p:cNvSpPr>
            <a:spLocks noGrp="1"/>
          </p:cNvSpPr>
          <p:nvPr/>
        </p:nvSpPr>
        <p:spPr>
          <a:xfrm>
            <a:off x="723900" y="2533650"/>
            <a:ext cx="6667500" cy="10287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l">
              <a:defRPr sz="2175" b="0">
                <a:solidFill>
                  <a:srgbClr val="A3FF7A"/>
                </a:solidFill>
              </a:defRPr>
            </a:pPr>
            <a:r>
              <a:rPr sz="2175" b="0">
                <a:solidFill>
                  <a:srgbClr val="A3FF7A"/>
                </a:solidFill>
              </a:rPr>
              <a:t>We help viewers who receive screenshots recover accountable source evidence, so they can verify before resharing.</a:t>
            </a:r>
          </a:p>
        </p:txBody>
      </p:sp>
      <p:sp>
        <p:nvSpPr>
          <p:cNvPr id="36" name="矩形: 圓角 35">
            <a:extLst>
              <a:ext uri="{FF2B5EF4-FFF2-40B4-BE49-F238E27FC236}">
                <a16:creationId xmlns:a16="http://schemas.microsoft.com/office/drawing/2014/main" id="{A35D78D4-1D4D-4B79-A653-E5BCDFC1FB7A}"/>
              </a:ext>
            </a:extLst>
          </p:cNvPr>
          <p:cNvSpPr>
            <a:spLocks noGrp="1"/>
          </p:cNvSpPr>
          <p:nvPr/>
        </p:nvSpPr>
        <p:spPr>
          <a:xfrm>
            <a:off x="7810500" y="1562100"/>
            <a:ext cx="3143250" cy="2190750"/>
          </a:xfrm>
          <a:prstGeom prst="roundRect">
            <a:avLst>
              <a:gd name="adj" fmla="val 3478"/>
            </a:avLst>
          </a:prstGeom>
          <a:solidFill>
            <a:srgbClr val="10261D">
              <a:alpha val="90000"/>
            </a:srgbClr>
          </a:solidFill>
          <a:ln w="9525">
            <a:solidFill>
              <a:srgbClr val="6EE7D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7" name="矩形 36">
            <a:extLst>
              <a:ext uri="{FF2B5EF4-FFF2-40B4-BE49-F238E27FC236}">
                <a16:creationId xmlns:a16="http://schemas.microsoft.com/office/drawing/2014/main" id="{5C27D911-029A-450B-9A0E-7A2AF16FF903}"/>
              </a:ext>
            </a:extLst>
          </p:cNvPr>
          <p:cNvSpPr>
            <a:spLocks noGrp="1"/>
          </p:cNvSpPr>
          <p:nvPr/>
        </p:nvSpPr>
        <p:spPr>
          <a:xfrm>
            <a:off x="8172450" y="1981200"/>
            <a:ext cx="238125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2400" b="1">
                <a:solidFill>
                  <a:srgbClr val="6EE7D8"/>
                </a:solidFill>
              </a:defRPr>
            </a:pPr>
            <a:r>
              <a:rPr sz="2400" b="1">
                <a:solidFill>
                  <a:srgbClr val="6EE7D8"/>
                </a:solidFill>
              </a:rPr>
              <a:t>Try it</a:t>
            </a:r>
          </a:p>
        </p:txBody>
      </p:sp>
      <p:sp>
        <p:nvSpPr>
          <p:cNvPr id="38" name="矩形 37">
            <a:extLst>
              <a:ext uri="{FF2B5EF4-FFF2-40B4-BE49-F238E27FC236}">
                <a16:creationId xmlns:a16="http://schemas.microsoft.com/office/drawing/2014/main" id="{E26ADA09-F8ED-46FC-95DD-3EAA81506678}"/>
              </a:ext>
            </a:extLst>
          </p:cNvPr>
          <p:cNvSpPr>
            <a:spLocks noGrp="1"/>
          </p:cNvSpPr>
          <p:nvPr/>
        </p:nvSpPr>
        <p:spPr>
          <a:xfrm>
            <a:off x="8115300" y="2609850"/>
            <a:ext cx="2476500" cy="34290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725" b="1">
                <a:solidFill>
                  <a:srgbClr val="EEF8F2"/>
                </a:solidFill>
              </a:defRPr>
            </a:pPr>
            <a:r>
              <a:rPr sz="1725" b="1">
                <a:solidFill>
                  <a:srgbClr val="EEF8F2"/>
                </a:solidFill>
              </a:rPr>
              <a:t>contentseal.vercel.app</a:t>
            </a:r>
          </a:p>
        </p:txBody>
      </p:sp>
      <p:sp>
        <p:nvSpPr>
          <p:cNvPr id="39" name="矩形 38">
            <a:extLst>
              <a:ext uri="{FF2B5EF4-FFF2-40B4-BE49-F238E27FC236}">
                <a16:creationId xmlns:a16="http://schemas.microsoft.com/office/drawing/2014/main" id="{AE243D75-E489-4648-BA51-1B074C470672}"/>
              </a:ext>
            </a:extLst>
          </p:cNvPr>
          <p:cNvSpPr>
            <a:spLocks noGrp="1"/>
          </p:cNvSpPr>
          <p:nvPr/>
        </p:nvSpPr>
        <p:spPr>
          <a:xfrm>
            <a:off x="8115300" y="3105150"/>
            <a:ext cx="2476500" cy="285750"/>
          </a:xfrm>
          <a:prstGeom prst="rect">
            <a:avLst/>
          </a:prstGeom>
          <a:noFill/>
          <a:ln w="0">
            <a:noFill/>
            <a:prstDash val="solid"/>
          </a:ln>
        </p:spPr>
        <p:txBody>
          <a:bodyPr/>
          <a:lstStyle/>
          <a:p>
            <a:pPr algn="ctr">
              <a:defRPr sz="1275" b="0">
                <a:solidFill>
                  <a:srgbClr val="A6B8AF"/>
                </a:solidFill>
              </a:defRPr>
            </a:pPr>
            <a:r>
              <a:rPr sz="1275" b="0">
                <a:solidFill>
                  <a:srgbClr val="A6B8AF"/>
                </a:solidFill>
              </a:rPr>
              <a:t>github.com/mx1204/ContentSeal</a:t>
            </a:r>
          </a:p>
        </p:txBody>
      </p:sp>
      <p:sp>
        <p:nvSpPr>
          <p:cNvPr id="41" name="ContentSealQrCaption">
            <a:extLst>
              <a:ext uri="{FF2B5EF4-FFF2-40B4-BE49-F238E27FC236}">
                <a16:creationId xmlns:a16="http://schemas.microsoft.com/office/drawing/2014/main" id="{60F76ABE-3DDA-F9F6-1270-7B0619345A74}"/>
              </a:ext>
            </a:extLst>
          </p:cNvPr>
          <p:cNvSpPr txBox="1"/>
          <p:nvPr/>
        </p:nvSpPr>
        <p:spPr>
          <a:xfrm>
            <a:off x="7810500" y="3790950"/>
            <a:ext cx="3143250" cy="184666"/>
          </a:xfrm>
          <a:prstGeom prst="rect">
            <a:avLst/>
          </a:prstGeom>
          <a:noFill/>
        </p:spPr>
        <p:txBody>
          <a:bodyPr vert="horz" lIns="0" tIns="0" rIns="0" bIns="0" rtlCol="0">
            <a:spAutoFit/>
          </a:bodyPr>
          <a:lstStyle/>
          <a:p>
            <a:pPr algn="ctr"/>
            <a:r>
              <a:rPr lang="en-US" sz="1200" b="1">
                <a:solidFill>
                  <a:srgbClr val="70FFE6"/>
                </a:solidFill>
                <a:latin typeface="Aptos Display" panose="020B0004020202020204" pitchFamily="34" charset="0"/>
              </a:rPr>
              <a:t>Scan live site</a:t>
            </a:r>
          </a:p>
        </p:txBody>
      </p:sp>
      <p:pic>
        <p:nvPicPr>
          <p:cNvPr id="43" name="ContentSealLiveSiteQR">
            <a:extLst>
              <a:ext uri="{FF2B5EF4-FFF2-40B4-BE49-F238E27FC236}">
                <a16:creationId xmlns:a16="http://schemas.microsoft.com/office/drawing/2014/main" id="{7358260D-F5F1-19F2-325A-0D61F1BBCEB0}"/>
              </a:ext>
            </a:extLst>
          </p:cNvPr>
          <p:cNvPicPr>
            <a:picLocks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53475" y="4038600"/>
            <a:ext cx="1257300" cy="12573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18906069"/>
      </p:ext>
    </p:extLst>
  </p:cSld>
  <p:clrMapOvr>
    <a:masterClrMapping/>
  </p:clrMapOvr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623</Words>
  <Application>Microsoft Office PowerPoint</Application>
  <DocSecurity>0</DocSecurity>
  <PresentationFormat>寬螢幕</PresentationFormat>
  <Paragraphs>92</Paragraphs>
  <Slides>9</Slides>
  <Notes>9</Notes>
  <HiddenSlides>0</HiddenSlides>
  <MMClips>0</MMClips>
  <ScaleCrop>false</ScaleCrop>
  <HeadingPairs>
    <vt:vector size="6" baseType="variant">
      <vt:variant>
        <vt:lpstr>使用字型</vt:lpstr>
      </vt:variant>
      <vt:variant>
        <vt:i4>2</vt:i4>
      </vt:variant>
      <vt:variant>
        <vt:lpstr>佈景主題</vt:lpstr>
      </vt:variant>
      <vt:variant>
        <vt:i4>1</vt:i4>
      </vt:variant>
      <vt:variant>
        <vt:lpstr>投影片標題</vt:lpstr>
      </vt:variant>
      <vt:variant>
        <vt:i4>9</vt:i4>
      </vt:variant>
    </vt:vector>
  </HeadingPairs>
  <TitlesOfParts>
    <vt:vector size="12" baseType="lpstr">
      <vt:lpstr>Aptos Display</vt:lpstr>
      <vt:lpstr>Calibri</vt:lpstr>
      <vt:lpstr>ChatGPT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  <vt:lpstr>PowerPoint 簡報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亭伃 潘</cp:lastModifiedBy>
  <cp:revision>2</cp:revision>
  <dcterms:created xsi:type="dcterms:W3CDTF">2026-06-24T22:14:31Z</dcterms:created>
  <dcterms:modified xsi:type="dcterms:W3CDTF">2026-06-24T23:37:00Z</dcterms:modified>
</cp:coreProperties>
</file>